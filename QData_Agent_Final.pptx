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136" y="230670"/>
            <a:ext cx="498538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92D4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6524" y="12"/>
            <a:ext cx="2865755" cy="2286000"/>
            <a:chOff x="9326524" y="12"/>
            <a:chExt cx="2865755" cy="2286000"/>
          </a:xfrm>
        </p:grpSpPr>
        <p:sp>
          <p:nvSpPr>
            <p:cNvPr id="3" name="object 3"/>
            <p:cNvSpPr/>
            <p:nvPr/>
          </p:nvSpPr>
          <p:spPr>
            <a:xfrm>
              <a:off x="9326524" y="12"/>
              <a:ext cx="2865755" cy="2286000"/>
            </a:xfrm>
            <a:custGeom>
              <a:avLst/>
              <a:gdLst/>
              <a:ahLst/>
              <a:cxnLst/>
              <a:rect l="l" t="t" r="r" b="b"/>
              <a:pathLst>
                <a:path w="2865754" h="2286000">
                  <a:moveTo>
                    <a:pt x="2865234" y="0"/>
                  </a:moveTo>
                  <a:lnTo>
                    <a:pt x="154528" y="0"/>
                  </a:lnTo>
                  <a:lnTo>
                    <a:pt x="146329" y="17094"/>
                  </a:lnTo>
                  <a:lnTo>
                    <a:pt x="126407" y="62169"/>
                  </a:lnTo>
                  <a:lnTo>
                    <a:pt x="107908" y="107792"/>
                  </a:lnTo>
                  <a:lnTo>
                    <a:pt x="90842" y="153929"/>
                  </a:lnTo>
                  <a:lnTo>
                    <a:pt x="75215" y="200545"/>
                  </a:lnTo>
                  <a:lnTo>
                    <a:pt x="61037" y="247606"/>
                  </a:lnTo>
                  <a:lnTo>
                    <a:pt x="48316" y="295076"/>
                  </a:lnTo>
                  <a:lnTo>
                    <a:pt x="37060" y="342922"/>
                  </a:lnTo>
                  <a:lnTo>
                    <a:pt x="27278" y="391108"/>
                  </a:lnTo>
                  <a:lnTo>
                    <a:pt x="18978" y="439600"/>
                  </a:lnTo>
                  <a:lnTo>
                    <a:pt x="12168" y="488363"/>
                  </a:lnTo>
                  <a:lnTo>
                    <a:pt x="6857" y="537362"/>
                  </a:lnTo>
                  <a:lnTo>
                    <a:pt x="3053" y="586563"/>
                  </a:lnTo>
                  <a:lnTo>
                    <a:pt x="764" y="635931"/>
                  </a:lnTo>
                  <a:lnTo>
                    <a:pt x="0" y="685431"/>
                  </a:lnTo>
                  <a:lnTo>
                    <a:pt x="764" y="734929"/>
                  </a:lnTo>
                  <a:lnTo>
                    <a:pt x="3053" y="784296"/>
                  </a:lnTo>
                  <a:lnTo>
                    <a:pt x="6857" y="833497"/>
                  </a:lnTo>
                  <a:lnTo>
                    <a:pt x="12168" y="882499"/>
                  </a:lnTo>
                  <a:lnTo>
                    <a:pt x="18978" y="931266"/>
                  </a:lnTo>
                  <a:lnTo>
                    <a:pt x="27278" y="979764"/>
                  </a:lnTo>
                  <a:lnTo>
                    <a:pt x="37060" y="1027960"/>
                  </a:lnTo>
                  <a:lnTo>
                    <a:pt x="48316" y="1075818"/>
                  </a:lnTo>
                  <a:lnTo>
                    <a:pt x="61037" y="1123305"/>
                  </a:lnTo>
                  <a:lnTo>
                    <a:pt x="75215" y="1170386"/>
                  </a:lnTo>
                  <a:lnTo>
                    <a:pt x="90842" y="1217027"/>
                  </a:lnTo>
                  <a:lnTo>
                    <a:pt x="107908" y="1263193"/>
                  </a:lnTo>
                  <a:lnTo>
                    <a:pt x="126407" y="1308851"/>
                  </a:lnTo>
                  <a:lnTo>
                    <a:pt x="146329" y="1353966"/>
                  </a:lnTo>
                  <a:lnTo>
                    <a:pt x="167667" y="1398503"/>
                  </a:lnTo>
                  <a:lnTo>
                    <a:pt x="190411" y="1442429"/>
                  </a:lnTo>
                  <a:lnTo>
                    <a:pt x="214553" y="1485709"/>
                  </a:lnTo>
                  <a:lnTo>
                    <a:pt x="239965" y="1528161"/>
                  </a:lnTo>
                  <a:lnTo>
                    <a:pt x="266629" y="1569737"/>
                  </a:lnTo>
                  <a:lnTo>
                    <a:pt x="294523" y="1610410"/>
                  </a:lnTo>
                  <a:lnTo>
                    <a:pt x="323621" y="1650155"/>
                  </a:lnTo>
                  <a:lnTo>
                    <a:pt x="353899" y="1688948"/>
                  </a:lnTo>
                  <a:lnTo>
                    <a:pt x="385332" y="1726764"/>
                  </a:lnTo>
                  <a:lnTo>
                    <a:pt x="417895" y="1763577"/>
                  </a:lnTo>
                  <a:lnTo>
                    <a:pt x="451564" y="1799363"/>
                  </a:lnTo>
                  <a:lnTo>
                    <a:pt x="486314" y="1834097"/>
                  </a:lnTo>
                  <a:lnTo>
                    <a:pt x="522121" y="1867752"/>
                  </a:lnTo>
                  <a:lnTo>
                    <a:pt x="558959" y="1900305"/>
                  </a:lnTo>
                  <a:lnTo>
                    <a:pt x="596805" y="1931731"/>
                  </a:lnTo>
                  <a:lnTo>
                    <a:pt x="635633" y="1962003"/>
                  </a:lnTo>
                  <a:lnTo>
                    <a:pt x="675419" y="1991098"/>
                  </a:lnTo>
                  <a:lnTo>
                    <a:pt x="716138" y="2018990"/>
                  </a:lnTo>
                  <a:lnTo>
                    <a:pt x="757766" y="2045654"/>
                  </a:lnTo>
                  <a:lnTo>
                    <a:pt x="800277" y="2071065"/>
                  </a:lnTo>
                  <a:lnTo>
                    <a:pt x="843498" y="2095209"/>
                  </a:lnTo>
                  <a:lnTo>
                    <a:pt x="887371" y="2117955"/>
                  </a:lnTo>
                  <a:lnTo>
                    <a:pt x="931862" y="2139294"/>
                  </a:lnTo>
                  <a:lnTo>
                    <a:pt x="976937" y="2159218"/>
                  </a:lnTo>
                  <a:lnTo>
                    <a:pt x="1022560" y="2177718"/>
                  </a:lnTo>
                  <a:lnTo>
                    <a:pt x="1068697" y="2194786"/>
                  </a:lnTo>
                  <a:lnTo>
                    <a:pt x="1115313" y="2210413"/>
                  </a:lnTo>
                  <a:lnTo>
                    <a:pt x="1162374" y="2224592"/>
                  </a:lnTo>
                  <a:lnTo>
                    <a:pt x="1209845" y="2237314"/>
                  </a:lnTo>
                  <a:lnTo>
                    <a:pt x="1257691" y="2248570"/>
                  </a:lnTo>
                  <a:lnTo>
                    <a:pt x="1305877" y="2258352"/>
                  </a:lnTo>
                  <a:lnTo>
                    <a:pt x="1354369" y="2266653"/>
                  </a:lnTo>
                  <a:lnTo>
                    <a:pt x="1403131" y="2273463"/>
                  </a:lnTo>
                  <a:lnTo>
                    <a:pt x="1452131" y="2278774"/>
                  </a:lnTo>
                  <a:lnTo>
                    <a:pt x="1501332" y="2282578"/>
                  </a:lnTo>
                  <a:lnTo>
                    <a:pt x="1550699" y="2284867"/>
                  </a:lnTo>
                  <a:lnTo>
                    <a:pt x="1600200" y="2285631"/>
                  </a:lnTo>
                  <a:lnTo>
                    <a:pt x="1649698" y="2284867"/>
                  </a:lnTo>
                  <a:lnTo>
                    <a:pt x="1699065" y="2282578"/>
                  </a:lnTo>
                  <a:lnTo>
                    <a:pt x="1748266" y="2278774"/>
                  </a:lnTo>
                  <a:lnTo>
                    <a:pt x="1797267" y="2273463"/>
                  </a:lnTo>
                  <a:lnTo>
                    <a:pt x="1846034" y="2266653"/>
                  </a:lnTo>
                  <a:lnTo>
                    <a:pt x="1894532" y="2258352"/>
                  </a:lnTo>
                  <a:lnTo>
                    <a:pt x="1942728" y="2248570"/>
                  </a:lnTo>
                  <a:lnTo>
                    <a:pt x="1990586" y="2237314"/>
                  </a:lnTo>
                  <a:lnTo>
                    <a:pt x="2038073" y="2224592"/>
                  </a:lnTo>
                  <a:lnTo>
                    <a:pt x="2085154" y="2210413"/>
                  </a:lnTo>
                  <a:lnTo>
                    <a:pt x="2131795" y="2194786"/>
                  </a:lnTo>
                  <a:lnTo>
                    <a:pt x="2177962" y="2177718"/>
                  </a:lnTo>
                  <a:lnTo>
                    <a:pt x="2223619" y="2159218"/>
                  </a:lnTo>
                  <a:lnTo>
                    <a:pt x="2268734" y="2139294"/>
                  </a:lnTo>
                  <a:lnTo>
                    <a:pt x="2313272" y="2117955"/>
                  </a:lnTo>
                  <a:lnTo>
                    <a:pt x="2357197" y="2095209"/>
                  </a:lnTo>
                  <a:lnTo>
                    <a:pt x="2400477" y="2071065"/>
                  </a:lnTo>
                  <a:lnTo>
                    <a:pt x="2442930" y="2045654"/>
                  </a:lnTo>
                  <a:lnTo>
                    <a:pt x="2484505" y="2018990"/>
                  </a:lnTo>
                  <a:lnTo>
                    <a:pt x="2525178" y="1991098"/>
                  </a:lnTo>
                  <a:lnTo>
                    <a:pt x="2564923" y="1962003"/>
                  </a:lnTo>
                  <a:lnTo>
                    <a:pt x="2603717" y="1931731"/>
                  </a:lnTo>
                  <a:lnTo>
                    <a:pt x="2641532" y="1900305"/>
                  </a:lnTo>
                  <a:lnTo>
                    <a:pt x="2678346" y="1867752"/>
                  </a:lnTo>
                  <a:lnTo>
                    <a:pt x="2714132" y="1834097"/>
                  </a:lnTo>
                  <a:lnTo>
                    <a:pt x="2748865" y="1799363"/>
                  </a:lnTo>
                  <a:lnTo>
                    <a:pt x="2782521" y="1763577"/>
                  </a:lnTo>
                  <a:lnTo>
                    <a:pt x="2815074" y="1726764"/>
                  </a:lnTo>
                  <a:lnTo>
                    <a:pt x="2846499" y="1688948"/>
                  </a:lnTo>
                  <a:lnTo>
                    <a:pt x="2865234" y="1664940"/>
                  </a:lnTo>
                  <a:lnTo>
                    <a:pt x="2865234" y="0"/>
                  </a:lnTo>
                  <a:close/>
                </a:path>
              </a:pathLst>
            </a:custGeom>
            <a:solidFill>
              <a:srgbClr val="00B3D7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58044" y="12"/>
              <a:ext cx="2011680" cy="1737360"/>
            </a:xfrm>
            <a:custGeom>
              <a:avLst/>
              <a:gdLst/>
              <a:ahLst/>
              <a:cxnLst/>
              <a:rect l="l" t="t" r="r" b="b"/>
              <a:pathLst>
                <a:path w="2011679" h="1737360">
                  <a:moveTo>
                    <a:pt x="1696079" y="0"/>
                  </a:moveTo>
                  <a:lnTo>
                    <a:pt x="315590" y="0"/>
                  </a:lnTo>
                  <a:lnTo>
                    <a:pt x="294606" y="19918"/>
                  </a:lnTo>
                  <a:lnTo>
                    <a:pt x="258459" y="57998"/>
                  </a:lnTo>
                  <a:lnTo>
                    <a:pt x="224317" y="97941"/>
                  </a:lnTo>
                  <a:lnTo>
                    <a:pt x="192251" y="139675"/>
                  </a:lnTo>
                  <a:lnTo>
                    <a:pt x="162332" y="183129"/>
                  </a:lnTo>
                  <a:lnTo>
                    <a:pt x="134632" y="228231"/>
                  </a:lnTo>
                  <a:lnTo>
                    <a:pt x="109430" y="274728"/>
                  </a:lnTo>
                  <a:lnTo>
                    <a:pt x="86761" y="322351"/>
                  </a:lnTo>
                  <a:lnTo>
                    <a:pt x="66655" y="370993"/>
                  </a:lnTo>
                  <a:lnTo>
                    <a:pt x="49138" y="420550"/>
                  </a:lnTo>
                  <a:lnTo>
                    <a:pt x="34240" y="470914"/>
                  </a:lnTo>
                  <a:lnTo>
                    <a:pt x="21988" y="521980"/>
                  </a:lnTo>
                  <a:lnTo>
                    <a:pt x="12410" y="573643"/>
                  </a:lnTo>
                  <a:lnTo>
                    <a:pt x="5534" y="625796"/>
                  </a:lnTo>
                  <a:lnTo>
                    <a:pt x="1388" y="678334"/>
                  </a:lnTo>
                  <a:lnTo>
                    <a:pt x="0" y="731151"/>
                  </a:lnTo>
                  <a:lnTo>
                    <a:pt x="1388" y="783965"/>
                  </a:lnTo>
                  <a:lnTo>
                    <a:pt x="5534" y="836500"/>
                  </a:lnTo>
                  <a:lnTo>
                    <a:pt x="12410" y="888651"/>
                  </a:lnTo>
                  <a:lnTo>
                    <a:pt x="21988" y="940313"/>
                  </a:lnTo>
                  <a:lnTo>
                    <a:pt x="34240" y="991379"/>
                  </a:lnTo>
                  <a:lnTo>
                    <a:pt x="49138" y="1041744"/>
                  </a:lnTo>
                  <a:lnTo>
                    <a:pt x="66655" y="1091301"/>
                  </a:lnTo>
                  <a:lnTo>
                    <a:pt x="86761" y="1139945"/>
                  </a:lnTo>
                  <a:lnTo>
                    <a:pt x="109430" y="1187571"/>
                  </a:lnTo>
                  <a:lnTo>
                    <a:pt x="134632" y="1234071"/>
                  </a:lnTo>
                  <a:lnTo>
                    <a:pt x="162332" y="1279170"/>
                  </a:lnTo>
                  <a:lnTo>
                    <a:pt x="192251" y="1322621"/>
                  </a:lnTo>
                  <a:lnTo>
                    <a:pt x="224317" y="1364353"/>
                  </a:lnTo>
                  <a:lnTo>
                    <a:pt x="258459" y="1404294"/>
                  </a:lnTo>
                  <a:lnTo>
                    <a:pt x="294606" y="1442373"/>
                  </a:lnTo>
                  <a:lnTo>
                    <a:pt x="332687" y="1478520"/>
                  </a:lnTo>
                  <a:lnTo>
                    <a:pt x="372630" y="1512661"/>
                  </a:lnTo>
                  <a:lnTo>
                    <a:pt x="414363" y="1544727"/>
                  </a:lnTo>
                  <a:lnTo>
                    <a:pt x="457817" y="1574646"/>
                  </a:lnTo>
                  <a:lnTo>
                    <a:pt x="502920" y="1602346"/>
                  </a:lnTo>
                  <a:lnTo>
                    <a:pt x="549417" y="1627549"/>
                  </a:lnTo>
                  <a:lnTo>
                    <a:pt x="597039" y="1650218"/>
                  </a:lnTo>
                  <a:lnTo>
                    <a:pt x="645682" y="1670326"/>
                  </a:lnTo>
                  <a:lnTo>
                    <a:pt x="695238" y="1687844"/>
                  </a:lnTo>
                  <a:lnTo>
                    <a:pt x="745602" y="1702744"/>
                  </a:lnTo>
                  <a:lnTo>
                    <a:pt x="796669" y="1714998"/>
                  </a:lnTo>
                  <a:lnTo>
                    <a:pt x="848331" y="1724578"/>
                  </a:lnTo>
                  <a:lnTo>
                    <a:pt x="900485" y="1731455"/>
                  </a:lnTo>
                  <a:lnTo>
                    <a:pt x="953023" y="1735603"/>
                  </a:lnTo>
                  <a:lnTo>
                    <a:pt x="1005840" y="1736991"/>
                  </a:lnTo>
                  <a:lnTo>
                    <a:pt x="1058653" y="1735603"/>
                  </a:lnTo>
                  <a:lnTo>
                    <a:pt x="1111188" y="1731455"/>
                  </a:lnTo>
                  <a:lnTo>
                    <a:pt x="1163340" y="1724578"/>
                  </a:lnTo>
                  <a:lnTo>
                    <a:pt x="1215001" y="1714998"/>
                  </a:lnTo>
                  <a:lnTo>
                    <a:pt x="1266067" y="1702744"/>
                  </a:lnTo>
                  <a:lnTo>
                    <a:pt x="1316432" y="1687844"/>
                  </a:lnTo>
                  <a:lnTo>
                    <a:pt x="1365989" y="1670326"/>
                  </a:lnTo>
                  <a:lnTo>
                    <a:pt x="1414634" y="1650218"/>
                  </a:lnTo>
                  <a:lnTo>
                    <a:pt x="1462259" y="1627549"/>
                  </a:lnTo>
                  <a:lnTo>
                    <a:pt x="1508760" y="1602346"/>
                  </a:lnTo>
                  <a:lnTo>
                    <a:pt x="1553858" y="1574646"/>
                  </a:lnTo>
                  <a:lnTo>
                    <a:pt x="1597309" y="1544727"/>
                  </a:lnTo>
                  <a:lnTo>
                    <a:pt x="1639041" y="1512661"/>
                  </a:lnTo>
                  <a:lnTo>
                    <a:pt x="1678982" y="1478520"/>
                  </a:lnTo>
                  <a:lnTo>
                    <a:pt x="1717062" y="1442373"/>
                  </a:lnTo>
                  <a:lnTo>
                    <a:pt x="1753208" y="1404294"/>
                  </a:lnTo>
                  <a:lnTo>
                    <a:pt x="1787350" y="1364353"/>
                  </a:lnTo>
                  <a:lnTo>
                    <a:pt x="1819415" y="1322621"/>
                  </a:lnTo>
                  <a:lnTo>
                    <a:pt x="1849334" y="1279170"/>
                  </a:lnTo>
                  <a:lnTo>
                    <a:pt x="1877034" y="1234071"/>
                  </a:lnTo>
                  <a:lnTo>
                    <a:pt x="1902237" y="1187571"/>
                  </a:lnTo>
                  <a:lnTo>
                    <a:pt x="1924907" y="1139945"/>
                  </a:lnTo>
                  <a:lnTo>
                    <a:pt x="1945014" y="1091301"/>
                  </a:lnTo>
                  <a:lnTo>
                    <a:pt x="1962532" y="1041744"/>
                  </a:lnTo>
                  <a:lnTo>
                    <a:pt x="1977432" y="991379"/>
                  </a:lnTo>
                  <a:lnTo>
                    <a:pt x="1989686" y="940313"/>
                  </a:lnTo>
                  <a:lnTo>
                    <a:pt x="1999266" y="888651"/>
                  </a:lnTo>
                  <a:lnTo>
                    <a:pt x="2006144" y="836500"/>
                  </a:lnTo>
                  <a:lnTo>
                    <a:pt x="2010291" y="783965"/>
                  </a:lnTo>
                  <a:lnTo>
                    <a:pt x="2011679" y="731151"/>
                  </a:lnTo>
                  <a:lnTo>
                    <a:pt x="2010291" y="678334"/>
                  </a:lnTo>
                  <a:lnTo>
                    <a:pt x="2006144" y="625796"/>
                  </a:lnTo>
                  <a:lnTo>
                    <a:pt x="1999266" y="573643"/>
                  </a:lnTo>
                  <a:lnTo>
                    <a:pt x="1989686" y="521980"/>
                  </a:lnTo>
                  <a:lnTo>
                    <a:pt x="1977432" y="470914"/>
                  </a:lnTo>
                  <a:lnTo>
                    <a:pt x="1962532" y="420550"/>
                  </a:lnTo>
                  <a:lnTo>
                    <a:pt x="1945014" y="370993"/>
                  </a:lnTo>
                  <a:lnTo>
                    <a:pt x="1924907" y="322351"/>
                  </a:lnTo>
                  <a:lnTo>
                    <a:pt x="1902237" y="274728"/>
                  </a:lnTo>
                  <a:lnTo>
                    <a:pt x="1877034" y="228231"/>
                  </a:lnTo>
                  <a:lnTo>
                    <a:pt x="1849334" y="183129"/>
                  </a:lnTo>
                  <a:lnTo>
                    <a:pt x="1819415" y="139675"/>
                  </a:lnTo>
                  <a:lnTo>
                    <a:pt x="1787350" y="97941"/>
                  </a:lnTo>
                  <a:lnTo>
                    <a:pt x="1753208" y="57998"/>
                  </a:lnTo>
                  <a:lnTo>
                    <a:pt x="1717062" y="19918"/>
                  </a:lnTo>
                  <a:lnTo>
                    <a:pt x="1696079" y="0"/>
                  </a:lnTo>
                  <a:close/>
                </a:path>
              </a:pathLst>
            </a:custGeom>
            <a:solidFill>
              <a:srgbClr val="00B3D7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-148" y="4754511"/>
            <a:ext cx="1828800" cy="2103755"/>
          </a:xfrm>
          <a:custGeom>
            <a:avLst/>
            <a:gdLst/>
            <a:ahLst/>
            <a:cxnLst/>
            <a:rect l="l" t="t" r="r" b="b"/>
            <a:pathLst>
              <a:path w="1828800" h="2103754">
                <a:moveTo>
                  <a:pt x="548432" y="0"/>
                </a:moveTo>
                <a:lnTo>
                  <a:pt x="496670" y="1057"/>
                </a:lnTo>
                <a:lnTo>
                  <a:pt x="445110" y="4183"/>
                </a:lnTo>
                <a:lnTo>
                  <a:pt x="393810" y="9373"/>
                </a:lnTo>
                <a:lnTo>
                  <a:pt x="342831" y="16611"/>
                </a:lnTo>
                <a:lnTo>
                  <a:pt x="292233" y="25883"/>
                </a:lnTo>
                <a:lnTo>
                  <a:pt x="242076" y="37172"/>
                </a:lnTo>
                <a:lnTo>
                  <a:pt x="192419" y="50463"/>
                </a:lnTo>
                <a:lnTo>
                  <a:pt x="143324" y="65741"/>
                </a:lnTo>
                <a:lnTo>
                  <a:pt x="94848" y="82989"/>
                </a:lnTo>
                <a:lnTo>
                  <a:pt x="47054" y="102191"/>
                </a:lnTo>
                <a:lnTo>
                  <a:pt x="0" y="123334"/>
                </a:lnTo>
                <a:lnTo>
                  <a:pt x="148" y="123334"/>
                </a:lnTo>
                <a:lnTo>
                  <a:pt x="148" y="2103132"/>
                </a:lnTo>
                <a:lnTo>
                  <a:pt x="1528738" y="2103132"/>
                </a:lnTo>
                <a:lnTo>
                  <a:pt x="1539852" y="2090077"/>
                </a:lnTo>
                <a:lnTo>
                  <a:pt x="1571640" y="2049548"/>
                </a:lnTo>
                <a:lnTo>
                  <a:pt x="1601827" y="2007707"/>
                </a:lnTo>
                <a:lnTo>
                  <a:pt x="1630371" y="1964594"/>
                </a:lnTo>
                <a:lnTo>
                  <a:pt x="1657231" y="1920252"/>
                </a:lnTo>
                <a:lnTo>
                  <a:pt x="1682202" y="1874856"/>
                </a:lnTo>
                <a:lnTo>
                  <a:pt x="1705267" y="1828600"/>
                </a:lnTo>
                <a:lnTo>
                  <a:pt x="1726408" y="1781544"/>
                </a:lnTo>
                <a:lnTo>
                  <a:pt x="1745610" y="1733748"/>
                </a:lnTo>
                <a:lnTo>
                  <a:pt x="1762858" y="1685272"/>
                </a:lnTo>
                <a:lnTo>
                  <a:pt x="1778136" y="1636176"/>
                </a:lnTo>
                <a:lnTo>
                  <a:pt x="1791428" y="1586519"/>
                </a:lnTo>
                <a:lnTo>
                  <a:pt x="1802718" y="1536362"/>
                </a:lnTo>
                <a:lnTo>
                  <a:pt x="1811991" y="1485765"/>
                </a:lnTo>
                <a:lnTo>
                  <a:pt x="1819230" y="1434788"/>
                </a:lnTo>
                <a:lnTo>
                  <a:pt x="1824421" y="1383490"/>
                </a:lnTo>
                <a:lnTo>
                  <a:pt x="1827547" y="1331931"/>
                </a:lnTo>
                <a:lnTo>
                  <a:pt x="1828592" y="1280172"/>
                </a:lnTo>
                <a:lnTo>
                  <a:pt x="1827547" y="1228410"/>
                </a:lnTo>
                <a:lnTo>
                  <a:pt x="1824421" y="1176850"/>
                </a:lnTo>
                <a:lnTo>
                  <a:pt x="1819230" y="1125550"/>
                </a:lnTo>
                <a:lnTo>
                  <a:pt x="1811991" y="1074571"/>
                </a:lnTo>
                <a:lnTo>
                  <a:pt x="1802718" y="1023973"/>
                </a:lnTo>
                <a:lnTo>
                  <a:pt x="1791428" y="973816"/>
                </a:lnTo>
                <a:lnTo>
                  <a:pt x="1778136" y="924159"/>
                </a:lnTo>
                <a:lnTo>
                  <a:pt x="1762858" y="875064"/>
                </a:lnTo>
                <a:lnTo>
                  <a:pt x="1745610" y="826588"/>
                </a:lnTo>
                <a:lnTo>
                  <a:pt x="1726408" y="778794"/>
                </a:lnTo>
                <a:lnTo>
                  <a:pt x="1705267" y="731740"/>
                </a:lnTo>
                <a:lnTo>
                  <a:pt x="1682202" y="685486"/>
                </a:lnTo>
                <a:lnTo>
                  <a:pt x="1657231" y="640092"/>
                </a:lnTo>
                <a:lnTo>
                  <a:pt x="1630371" y="595747"/>
                </a:lnTo>
                <a:lnTo>
                  <a:pt x="1601827" y="552633"/>
                </a:lnTo>
                <a:lnTo>
                  <a:pt x="1571640" y="510790"/>
                </a:lnTo>
                <a:lnTo>
                  <a:pt x="1539852" y="470259"/>
                </a:lnTo>
                <a:lnTo>
                  <a:pt x="1506504" y="431083"/>
                </a:lnTo>
                <a:lnTo>
                  <a:pt x="1471637" y="393302"/>
                </a:lnTo>
                <a:lnTo>
                  <a:pt x="1435293" y="356958"/>
                </a:lnTo>
                <a:lnTo>
                  <a:pt x="1397512" y="322092"/>
                </a:lnTo>
                <a:lnTo>
                  <a:pt x="1358337" y="288745"/>
                </a:lnTo>
                <a:lnTo>
                  <a:pt x="1317808" y="256958"/>
                </a:lnTo>
                <a:lnTo>
                  <a:pt x="1275967" y="226773"/>
                </a:lnTo>
                <a:lnTo>
                  <a:pt x="1232854" y="198231"/>
                </a:lnTo>
                <a:lnTo>
                  <a:pt x="1188512" y="171373"/>
                </a:lnTo>
                <a:lnTo>
                  <a:pt x="1143116" y="146399"/>
                </a:lnTo>
                <a:lnTo>
                  <a:pt x="1096860" y="123334"/>
                </a:lnTo>
                <a:lnTo>
                  <a:pt x="1049804" y="102191"/>
                </a:lnTo>
                <a:lnTo>
                  <a:pt x="1002008" y="82989"/>
                </a:lnTo>
                <a:lnTo>
                  <a:pt x="953532" y="65741"/>
                </a:lnTo>
                <a:lnTo>
                  <a:pt x="904436" y="50463"/>
                </a:lnTo>
                <a:lnTo>
                  <a:pt x="854779" y="37172"/>
                </a:lnTo>
                <a:lnTo>
                  <a:pt x="804622" y="25883"/>
                </a:lnTo>
                <a:lnTo>
                  <a:pt x="754025" y="16611"/>
                </a:lnTo>
                <a:lnTo>
                  <a:pt x="703048" y="9373"/>
                </a:lnTo>
                <a:lnTo>
                  <a:pt x="651750" y="4183"/>
                </a:lnTo>
                <a:lnTo>
                  <a:pt x="600191" y="1057"/>
                </a:lnTo>
                <a:lnTo>
                  <a:pt x="548432" y="0"/>
                </a:lnTo>
                <a:close/>
              </a:path>
            </a:pathLst>
          </a:custGeom>
          <a:solidFill>
            <a:srgbClr val="0095B6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284" y="1005839"/>
            <a:ext cx="2743200" cy="384175"/>
          </a:xfrm>
          <a:custGeom>
            <a:avLst/>
            <a:gdLst/>
            <a:ahLst/>
            <a:cxnLst/>
            <a:rect l="l" t="t" r="r" b="b"/>
            <a:pathLst>
              <a:path w="2743200" h="384175">
                <a:moveTo>
                  <a:pt x="26513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292684"/>
                </a:lnTo>
                <a:lnTo>
                  <a:pt x="12230" y="338404"/>
                </a:lnTo>
                <a:lnTo>
                  <a:pt x="45720" y="371881"/>
                </a:lnTo>
                <a:lnTo>
                  <a:pt x="91440" y="384124"/>
                </a:lnTo>
                <a:lnTo>
                  <a:pt x="2651760" y="383755"/>
                </a:lnTo>
                <a:lnTo>
                  <a:pt x="2697480" y="371525"/>
                </a:lnTo>
                <a:lnTo>
                  <a:pt x="2730957" y="338035"/>
                </a:lnTo>
                <a:lnTo>
                  <a:pt x="2743175" y="292684"/>
                </a:lnTo>
                <a:lnTo>
                  <a:pt x="2743200" y="292315"/>
                </a:lnTo>
                <a:lnTo>
                  <a:pt x="2742831" y="91439"/>
                </a:lnTo>
                <a:lnTo>
                  <a:pt x="2730601" y="45720"/>
                </a:lnTo>
                <a:lnTo>
                  <a:pt x="2697111" y="12242"/>
                </a:lnTo>
                <a:lnTo>
                  <a:pt x="2663398" y="798"/>
                </a:lnTo>
                <a:lnTo>
                  <a:pt x="2651391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25576" y="1290809"/>
            <a:ext cx="3766820" cy="198310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6800" spc="-10" dirty="0">
                <a:solidFill>
                  <a:srgbClr val="FFFFFF"/>
                </a:solidFill>
              </a:rPr>
              <a:t>QData</a:t>
            </a:r>
            <a:endParaRPr sz="6800"/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sz="2200" b="0" spc="-20" dirty="0">
                <a:solidFill>
                  <a:srgbClr val="00B3D7"/>
                </a:solidFill>
                <a:latin typeface="Calibri"/>
                <a:cs typeface="Calibri"/>
              </a:rPr>
              <a:t>Conversational</a:t>
            </a:r>
            <a:r>
              <a:rPr sz="2200" b="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AI</a:t>
            </a:r>
            <a:r>
              <a:rPr sz="2200" b="0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for</a:t>
            </a:r>
            <a:r>
              <a:rPr sz="2200" b="0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Secure</a:t>
            </a:r>
            <a:r>
              <a:rPr sz="2200" b="0" spc="-50" dirty="0">
                <a:solidFill>
                  <a:srgbClr val="00B3D7"/>
                </a:solidFill>
                <a:latin typeface="Calibri"/>
                <a:cs typeface="Calibri"/>
              </a:rPr>
              <a:t> &amp;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Governed</a:t>
            </a:r>
            <a:r>
              <a:rPr sz="2200" b="0" spc="-7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B3D7"/>
                </a:solidFill>
                <a:latin typeface="Calibri"/>
                <a:cs typeface="Calibri"/>
              </a:rPr>
              <a:t>Enterprise</a:t>
            </a:r>
            <a:r>
              <a:rPr sz="2200" b="0" spc="-7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2200" b="0" spc="-7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284" y="3474364"/>
            <a:ext cx="4114800" cy="36830"/>
          </a:xfrm>
          <a:custGeom>
            <a:avLst/>
            <a:gdLst/>
            <a:ahLst/>
            <a:cxnLst/>
            <a:rect l="l" t="t" r="r" b="b"/>
            <a:pathLst>
              <a:path w="4114800" h="36829">
                <a:moveTo>
                  <a:pt x="4114431" y="0"/>
                </a:moveTo>
                <a:lnTo>
                  <a:pt x="0" y="0"/>
                </a:lnTo>
                <a:lnTo>
                  <a:pt x="0" y="36360"/>
                </a:lnTo>
                <a:lnTo>
                  <a:pt x="2057400" y="36360"/>
                </a:lnTo>
                <a:lnTo>
                  <a:pt x="4114431" y="36360"/>
                </a:lnTo>
                <a:lnTo>
                  <a:pt x="4114431" y="0"/>
                </a:lnTo>
                <a:close/>
              </a:path>
            </a:pathLst>
          </a:custGeom>
          <a:solidFill>
            <a:srgbClr val="8EA2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576" y="3673703"/>
            <a:ext cx="34347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8EA2B0"/>
                </a:solidFill>
                <a:latin typeface="Calibri"/>
                <a:cs typeface="Calibri"/>
              </a:rPr>
              <a:t>AIA</a:t>
            </a:r>
            <a:r>
              <a:rPr sz="13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3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8EA2B0"/>
                </a:solidFill>
                <a:latin typeface="Calibri"/>
                <a:cs typeface="Calibri"/>
              </a:rPr>
              <a:t>Vertical</a:t>
            </a:r>
            <a:r>
              <a:rPr sz="1300" spc="229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300" spc="229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EA2B0"/>
                </a:solidFill>
                <a:latin typeface="Calibri"/>
                <a:cs typeface="Calibri"/>
              </a:rPr>
              <a:t>Cognizant</a:t>
            </a:r>
            <a:r>
              <a:rPr sz="13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8EA2B0"/>
                </a:solidFill>
                <a:latin typeface="Calibri"/>
                <a:cs typeface="Calibri"/>
              </a:rPr>
              <a:t>Technology</a:t>
            </a:r>
            <a:r>
              <a:rPr sz="13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EA2B0"/>
                </a:solidFill>
                <a:latin typeface="Calibri"/>
                <a:cs typeface="Calibri"/>
              </a:rPr>
              <a:t>Solutions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235084" y="1920239"/>
            <a:ext cx="2468880" cy="658495"/>
            <a:chOff x="9235084" y="1920239"/>
            <a:chExt cx="2468880" cy="658495"/>
          </a:xfrm>
        </p:grpSpPr>
        <p:sp>
          <p:nvSpPr>
            <p:cNvPr id="12" name="object 12"/>
            <p:cNvSpPr/>
            <p:nvPr/>
          </p:nvSpPr>
          <p:spPr>
            <a:xfrm>
              <a:off x="9235084" y="1920239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4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20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44875" y="202031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7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01746" y="2144776"/>
            <a:ext cx="1612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100"/>
              </a:spcBef>
              <a:buClr>
                <a:srgbClr val="0C1A29"/>
              </a:buClr>
              <a:buSzPct val="91666"/>
              <a:buFont typeface="Segoe UI Symbol"/>
              <a:buChar char="✓"/>
              <a:tabLst>
                <a:tab pos="481965" algn="l"/>
              </a:tabLst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r>
              <a:rPr sz="1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35084" y="2788920"/>
            <a:ext cx="2468880" cy="658495"/>
            <a:chOff x="9235084" y="2788920"/>
            <a:chExt cx="2468880" cy="658495"/>
          </a:xfrm>
        </p:grpSpPr>
        <p:sp>
          <p:nvSpPr>
            <p:cNvPr id="16" name="object 16"/>
            <p:cNvSpPr/>
            <p:nvPr/>
          </p:nvSpPr>
          <p:spPr>
            <a:xfrm>
              <a:off x="9235084" y="2788920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5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19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44875" y="28889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6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472942" y="2996336"/>
            <a:ext cx="2171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55" dirty="0">
                <a:solidFill>
                  <a:srgbClr val="0C1A29"/>
                </a:solidFill>
                <a:latin typeface="MingLiU_HKSCS-ExtB"/>
                <a:cs typeface="MingLiU_HKSCS-ExtB"/>
              </a:rPr>
              <a:t>⚡</a:t>
            </a:r>
            <a:endParaRPr sz="1300">
              <a:latin typeface="MingLiU_HKSCS-ExtB"/>
              <a:cs typeface="MingLiU_HKSCS-Ext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71176" y="3013455"/>
            <a:ext cx="1129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35084" y="3657600"/>
            <a:ext cx="2468880" cy="658495"/>
            <a:chOff x="9235084" y="3657600"/>
            <a:chExt cx="2468880" cy="658495"/>
          </a:xfrm>
        </p:grpSpPr>
        <p:sp>
          <p:nvSpPr>
            <p:cNvPr id="21" name="object 21"/>
            <p:cNvSpPr/>
            <p:nvPr/>
          </p:nvSpPr>
          <p:spPr>
            <a:xfrm>
              <a:off x="9235084" y="3657600"/>
              <a:ext cx="2468880" cy="658495"/>
            </a:xfrm>
            <a:custGeom>
              <a:avLst/>
              <a:gdLst/>
              <a:ahLst/>
              <a:cxnLst/>
              <a:rect l="l" t="t" r="r" b="b"/>
              <a:pathLst>
                <a:path w="2468879" h="658495">
                  <a:moveTo>
                    <a:pt x="23770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30" y="612724"/>
                  </a:lnTo>
                  <a:lnTo>
                    <a:pt x="45720" y="646201"/>
                  </a:lnTo>
                  <a:lnTo>
                    <a:pt x="91439" y="658444"/>
                  </a:lnTo>
                  <a:lnTo>
                    <a:pt x="2377439" y="658075"/>
                  </a:lnTo>
                  <a:lnTo>
                    <a:pt x="2423159" y="645845"/>
                  </a:lnTo>
                  <a:lnTo>
                    <a:pt x="2456637" y="612355"/>
                  </a:lnTo>
                  <a:lnTo>
                    <a:pt x="2468006" y="579003"/>
                  </a:lnTo>
                  <a:lnTo>
                    <a:pt x="2468079" y="578642"/>
                  </a:lnTo>
                  <a:lnTo>
                    <a:pt x="2468855" y="567004"/>
                  </a:lnTo>
                  <a:lnTo>
                    <a:pt x="2468879" y="566635"/>
                  </a:lnTo>
                  <a:lnTo>
                    <a:pt x="2468511" y="91439"/>
                  </a:lnTo>
                  <a:lnTo>
                    <a:pt x="2456281" y="45719"/>
                  </a:lnTo>
                  <a:lnTo>
                    <a:pt x="2422791" y="12242"/>
                  </a:lnTo>
                  <a:lnTo>
                    <a:pt x="2389078" y="798"/>
                  </a:lnTo>
                  <a:lnTo>
                    <a:pt x="2377071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44875" y="37576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6"/>
                  </a:lnTo>
                  <a:lnTo>
                    <a:pt x="67008" y="67008"/>
                  </a:lnTo>
                  <a:lnTo>
                    <a:pt x="30606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506419" y="3889705"/>
            <a:ext cx="133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0C1A29"/>
                </a:solidFill>
                <a:latin typeface="Segoe UI Symbol"/>
                <a:cs typeface="Segoe UI Symbol"/>
              </a:rPr>
              <a:t>◈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71176" y="3882135"/>
            <a:ext cx="9474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4136" y="1023010"/>
            <a:ext cx="3837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Data</a:t>
            </a:r>
            <a:r>
              <a:rPr sz="2000" b="1" spc="-5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is</a:t>
            </a:r>
            <a:r>
              <a:rPr sz="2000" b="1" spc="-4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92D41"/>
                </a:solidFill>
                <a:latin typeface="Calibri"/>
                <a:cs typeface="Calibri"/>
              </a:rPr>
              <a:t>locked</a:t>
            </a:r>
            <a:r>
              <a:rPr sz="2000" b="1" spc="-5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behind</a:t>
            </a:r>
            <a:r>
              <a:rPr sz="2000" b="1" spc="-40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92D41"/>
                </a:solidFill>
                <a:latin typeface="Calibri"/>
                <a:cs typeface="Calibri"/>
              </a:rPr>
              <a:t>SQL</a:t>
            </a:r>
            <a:r>
              <a:rPr sz="20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92D41"/>
                </a:solidFill>
                <a:latin typeface="Calibri"/>
                <a:cs typeface="Calibri"/>
              </a:rPr>
              <a:t>expertise.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8480" y="1554124"/>
            <a:ext cx="3657600" cy="2834640"/>
            <a:chOff x="438480" y="1554124"/>
            <a:chExt cx="3657600" cy="2834640"/>
          </a:xfrm>
        </p:grpSpPr>
        <p:sp>
          <p:nvSpPr>
            <p:cNvPr id="7" name="object 7"/>
            <p:cNvSpPr/>
            <p:nvPr/>
          </p:nvSpPr>
          <p:spPr>
            <a:xfrm>
              <a:off x="438480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6863" y="2777766"/>
                  </a:lnTo>
                  <a:lnTo>
                    <a:pt x="6986" y="2778127"/>
                  </a:lnTo>
                  <a:lnTo>
                    <a:pt x="35676" y="2815796"/>
                  </a:lnTo>
                  <a:lnTo>
                    <a:pt x="79433" y="2833839"/>
                  </a:lnTo>
                  <a:lnTo>
                    <a:pt x="91439" y="2834640"/>
                  </a:lnTo>
                  <a:lnTo>
                    <a:pt x="3566160" y="2834271"/>
                  </a:lnTo>
                  <a:lnTo>
                    <a:pt x="3611879" y="2822041"/>
                  </a:lnTo>
                  <a:lnTo>
                    <a:pt x="3645357" y="2788551"/>
                  </a:lnTo>
                  <a:lnTo>
                    <a:pt x="3657575" y="2743200"/>
                  </a:lnTo>
                  <a:lnTo>
                    <a:pt x="3657600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77804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480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8663" y="1777936"/>
            <a:ext cx="328427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Blocked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65" y="2226500"/>
            <a:ext cx="303593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expertise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means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request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goes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through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b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engineer,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matter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how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simple.</a:t>
            </a:r>
            <a:endParaRPr b="1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52035" y="1554124"/>
            <a:ext cx="3657600" cy="2834640"/>
            <a:chOff x="4352035" y="1554124"/>
            <a:chExt cx="3657600" cy="2834640"/>
          </a:xfrm>
        </p:grpSpPr>
        <p:sp>
          <p:nvSpPr>
            <p:cNvPr id="12" name="object 12"/>
            <p:cNvSpPr/>
            <p:nvPr/>
          </p:nvSpPr>
          <p:spPr>
            <a:xfrm>
              <a:off x="4352035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774" y="2754838"/>
                  </a:lnTo>
                  <a:lnTo>
                    <a:pt x="798" y="2755199"/>
                  </a:lnTo>
                  <a:lnTo>
                    <a:pt x="3077" y="2766506"/>
                  </a:lnTo>
                  <a:lnTo>
                    <a:pt x="3149" y="2766864"/>
                  </a:lnTo>
                  <a:lnTo>
                    <a:pt x="6863" y="2777766"/>
                  </a:lnTo>
                  <a:lnTo>
                    <a:pt x="35683" y="2815796"/>
                  </a:lnTo>
                  <a:lnTo>
                    <a:pt x="79440" y="2833839"/>
                  </a:lnTo>
                  <a:lnTo>
                    <a:pt x="91439" y="2834640"/>
                  </a:lnTo>
                  <a:lnTo>
                    <a:pt x="3566160" y="2834271"/>
                  </a:lnTo>
                  <a:lnTo>
                    <a:pt x="3611880" y="2822041"/>
                  </a:lnTo>
                  <a:lnTo>
                    <a:pt x="3645369" y="2788551"/>
                  </a:lnTo>
                  <a:lnTo>
                    <a:pt x="3656728" y="2755199"/>
                  </a:lnTo>
                  <a:lnTo>
                    <a:pt x="3656801" y="2754838"/>
                  </a:lnTo>
                  <a:lnTo>
                    <a:pt x="3657575" y="2743200"/>
                  </a:lnTo>
                  <a:lnTo>
                    <a:pt x="3657599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77809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52035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12220" y="1777936"/>
            <a:ext cx="29315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Engineers</a:t>
            </a:r>
            <a:r>
              <a:rPr sz="2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Bottlenecked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220" y="2226500"/>
            <a:ext cx="30283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teams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spend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hours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repetitive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ad-</a:t>
            </a:r>
            <a:r>
              <a:rPr b="1" spc="-25" dirty="0">
                <a:solidFill>
                  <a:srgbClr val="8EA2B0"/>
                </a:solidFill>
                <a:latin typeface="Calibri"/>
                <a:cs typeface="Calibri"/>
              </a:rPr>
              <a:t>hoc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instead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of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high-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value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engineering work.</a:t>
            </a:r>
            <a:endParaRPr b="1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38551" y="1554124"/>
            <a:ext cx="3657600" cy="2834640"/>
            <a:chOff x="8265959" y="1554124"/>
            <a:chExt cx="3657600" cy="2834640"/>
          </a:xfrm>
        </p:grpSpPr>
        <p:sp>
          <p:nvSpPr>
            <p:cNvPr id="17" name="object 17"/>
            <p:cNvSpPr/>
            <p:nvPr/>
          </p:nvSpPr>
          <p:spPr>
            <a:xfrm>
              <a:off x="8265959" y="1554124"/>
              <a:ext cx="3657600" cy="2834640"/>
            </a:xfrm>
            <a:custGeom>
              <a:avLst/>
              <a:gdLst/>
              <a:ahLst/>
              <a:cxnLst/>
              <a:rect l="l" t="t" r="r" b="b"/>
              <a:pathLst>
                <a:path w="3657600" h="2834640">
                  <a:moveTo>
                    <a:pt x="35658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743200"/>
                  </a:lnTo>
                  <a:lnTo>
                    <a:pt x="12242" y="2788920"/>
                  </a:lnTo>
                  <a:lnTo>
                    <a:pt x="45719" y="2822397"/>
                  </a:lnTo>
                  <a:lnTo>
                    <a:pt x="91439" y="2834640"/>
                  </a:lnTo>
                  <a:lnTo>
                    <a:pt x="3566159" y="2834271"/>
                  </a:lnTo>
                  <a:lnTo>
                    <a:pt x="3611879" y="2822041"/>
                  </a:lnTo>
                  <a:lnTo>
                    <a:pt x="3645357" y="2788551"/>
                  </a:lnTo>
                  <a:lnTo>
                    <a:pt x="3657575" y="2743200"/>
                  </a:lnTo>
                  <a:lnTo>
                    <a:pt x="3657600" y="2742831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30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65959" y="1554124"/>
              <a:ext cx="3657600" cy="54610"/>
            </a:xfrm>
            <a:custGeom>
              <a:avLst/>
              <a:gdLst/>
              <a:ahLst/>
              <a:cxnLst/>
              <a:rect l="l" t="t" r="r" b="b"/>
              <a:pathLst>
                <a:path w="3657600" h="54609">
                  <a:moveTo>
                    <a:pt x="365724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828800" y="54355"/>
                  </a:lnTo>
                  <a:lnTo>
                    <a:pt x="3657244" y="54355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EE2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26144" y="1777936"/>
            <a:ext cx="237563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Fall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0" y="2438400"/>
            <a:ext cx="337152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Existing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require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training,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have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rigid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interfaces,</a:t>
            </a:r>
            <a:r>
              <a:rPr b="1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b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8EA2B0"/>
                </a:solidFill>
                <a:latin typeface="Calibri"/>
                <a:cs typeface="Calibri"/>
              </a:rPr>
              <a:t>lack</a:t>
            </a:r>
            <a:r>
              <a:rPr b="1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intelligent</a:t>
            </a:r>
            <a:r>
              <a:rPr b="1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b="1" spc="-20" dirty="0">
                <a:solidFill>
                  <a:srgbClr val="8EA2B0"/>
                </a:solidFill>
                <a:latin typeface="Calibri"/>
                <a:cs typeface="Calibri"/>
              </a:rPr>
              <a:t>step </a:t>
            </a:r>
            <a:r>
              <a:rPr b="1" spc="-10" dirty="0">
                <a:solidFill>
                  <a:srgbClr val="8EA2B0"/>
                </a:solidFill>
                <a:latin typeface="Calibri"/>
                <a:cs typeface="Calibri"/>
              </a:rPr>
              <a:t>reasoning.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6844" y="4572000"/>
            <a:ext cx="11247120" cy="749935"/>
          </a:xfrm>
          <a:custGeom>
            <a:avLst/>
            <a:gdLst/>
            <a:ahLst/>
            <a:cxnLst/>
            <a:rect l="l" t="t" r="r" b="b"/>
            <a:pathLst>
              <a:path w="11247120" h="749935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658444"/>
                </a:lnTo>
                <a:lnTo>
                  <a:pt x="774" y="670082"/>
                </a:lnTo>
                <a:lnTo>
                  <a:pt x="798" y="670443"/>
                </a:lnTo>
                <a:lnTo>
                  <a:pt x="3075" y="681750"/>
                </a:lnTo>
                <a:lnTo>
                  <a:pt x="3148" y="682109"/>
                </a:lnTo>
                <a:lnTo>
                  <a:pt x="26679" y="723193"/>
                </a:lnTo>
                <a:lnTo>
                  <a:pt x="67765" y="746734"/>
                </a:lnTo>
                <a:lnTo>
                  <a:pt x="91439" y="749884"/>
                </a:lnTo>
                <a:lnTo>
                  <a:pt x="11155680" y="749515"/>
                </a:lnTo>
                <a:lnTo>
                  <a:pt x="11201400" y="737285"/>
                </a:lnTo>
                <a:lnTo>
                  <a:pt x="11234877" y="703795"/>
                </a:lnTo>
                <a:lnTo>
                  <a:pt x="11247095" y="658444"/>
                </a:lnTo>
                <a:lnTo>
                  <a:pt x="11247120" y="658075"/>
                </a:lnTo>
                <a:lnTo>
                  <a:pt x="11246751" y="91439"/>
                </a:lnTo>
                <a:lnTo>
                  <a:pt x="11234521" y="45719"/>
                </a:lnTo>
                <a:lnTo>
                  <a:pt x="11201031" y="12242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7016" y="4750815"/>
            <a:ext cx="10184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There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is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lightweight,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secure,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and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governable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solution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that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lets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users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ask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questions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in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plain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English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and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get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accurate,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audited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answers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without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exposing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raw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infrastructure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or</a:t>
            </a:r>
            <a:r>
              <a:rPr sz="1200" i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compromising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200" i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r>
              <a:rPr sz="1200" i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0B3D7"/>
                </a:solidFill>
                <a:latin typeface="Calibri"/>
                <a:cs typeface="Calibri"/>
              </a:rPr>
              <a:t>policies.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48342" y="1061542"/>
            <a:ext cx="525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"Type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a</a:t>
            </a:r>
            <a:r>
              <a:rPr sz="1800" b="1" i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B3D7"/>
                </a:solidFill>
                <a:latin typeface="Calibri"/>
                <a:cs typeface="Calibri"/>
              </a:rPr>
              <a:t>question.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Get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the</a:t>
            </a:r>
            <a:r>
              <a:rPr sz="1800" b="1" i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20" dirty="0">
                <a:solidFill>
                  <a:srgbClr val="00B3D7"/>
                </a:solidFill>
                <a:latin typeface="Calibri"/>
                <a:cs typeface="Calibri"/>
              </a:rPr>
              <a:t>answer.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SQL.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B3D7"/>
                </a:solidFill>
                <a:latin typeface="Calibri"/>
                <a:cs typeface="Calibri"/>
              </a:rPr>
              <a:t>No</a:t>
            </a:r>
            <a:r>
              <a:rPr sz="1800" b="1" i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B3D7"/>
                </a:solidFill>
                <a:latin typeface="Calibri"/>
                <a:cs typeface="Calibri"/>
              </a:rPr>
              <a:t>waiting."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392" y="1548051"/>
            <a:ext cx="11247120" cy="1920239"/>
          </a:xfrm>
          <a:custGeom>
            <a:avLst/>
            <a:gdLst/>
            <a:ahLst/>
            <a:cxnLst/>
            <a:rect l="l" t="t" r="r" b="b"/>
            <a:pathLst>
              <a:path w="11247120" h="1920239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828800"/>
                </a:lnTo>
                <a:lnTo>
                  <a:pt x="12230" y="1874520"/>
                </a:lnTo>
                <a:lnTo>
                  <a:pt x="45720" y="1907997"/>
                </a:lnTo>
                <a:lnTo>
                  <a:pt x="91439" y="1920240"/>
                </a:lnTo>
                <a:lnTo>
                  <a:pt x="11155680" y="1919871"/>
                </a:lnTo>
                <a:lnTo>
                  <a:pt x="11201400" y="1907641"/>
                </a:lnTo>
                <a:lnTo>
                  <a:pt x="11234877" y="1874151"/>
                </a:lnTo>
                <a:lnTo>
                  <a:pt x="11247095" y="1828800"/>
                </a:lnTo>
                <a:lnTo>
                  <a:pt x="11247120" y="1828431"/>
                </a:lnTo>
                <a:lnTo>
                  <a:pt x="11246751" y="91440"/>
                </a:lnTo>
                <a:lnTo>
                  <a:pt x="11234521" y="45720"/>
                </a:lnTo>
                <a:lnTo>
                  <a:pt x="11201031" y="12230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2736" y="1770011"/>
            <a:ext cx="315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0B3D7"/>
                </a:solidFill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4256" y="1762099"/>
            <a:ext cx="494845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"Show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quarter"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" y="2084400"/>
            <a:ext cx="36830" cy="731520"/>
          </a:xfrm>
          <a:custGeom>
            <a:avLst/>
            <a:gdLst/>
            <a:ahLst/>
            <a:cxnLst/>
            <a:rect l="l" t="t" r="r" b="b"/>
            <a:pathLst>
              <a:path w="36829" h="731519">
                <a:moveTo>
                  <a:pt x="36360" y="0"/>
                </a:moveTo>
                <a:lnTo>
                  <a:pt x="0" y="0"/>
                </a:lnTo>
                <a:lnTo>
                  <a:pt x="0" y="731164"/>
                </a:lnTo>
                <a:lnTo>
                  <a:pt x="18364" y="731164"/>
                </a:lnTo>
                <a:lnTo>
                  <a:pt x="36360" y="731164"/>
                </a:lnTo>
                <a:lnTo>
                  <a:pt x="36360" y="0"/>
                </a:lnTo>
                <a:close/>
              </a:path>
            </a:pathLst>
          </a:custGeom>
          <a:solidFill>
            <a:srgbClr val="00B3D7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2736" y="2154135"/>
            <a:ext cx="425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5D59F"/>
                </a:solidFill>
                <a:latin typeface="Calibri"/>
                <a:cs typeface="Calibri"/>
              </a:rPr>
              <a:t>QData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4256" y="2154135"/>
            <a:ext cx="655007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Understands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intent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Identifies</a:t>
            </a:r>
            <a:r>
              <a:rPr sz="14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schema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Executes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securely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Returns</a:t>
            </a:r>
            <a:r>
              <a:rPr sz="14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answer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4256" y="2617181"/>
            <a:ext cx="782835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"The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quarter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are: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Acme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Corp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($2.4M),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GlobalTech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($1.9M)..."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684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60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8007" y="299604"/>
                </a:lnTo>
                <a:lnTo>
                  <a:pt x="17864" y="328876"/>
                </a:lnTo>
                <a:lnTo>
                  <a:pt x="17916" y="329032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43582" y="299604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00B3D7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0383" y="3874935"/>
            <a:ext cx="12852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Plain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English</a:t>
            </a:r>
            <a:r>
              <a:rPr sz="13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148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60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17864" y="328876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43582" y="299604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05D59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88257" y="3874935"/>
            <a:ext cx="14592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3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2612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59" h="476250">
                <a:moveTo>
                  <a:pt x="237959" y="0"/>
                </a:moveTo>
                <a:lnTo>
                  <a:pt x="176349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17864" y="328876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4155" y="475919"/>
                </a:lnTo>
                <a:lnTo>
                  <a:pt x="2475223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33606" y="329032"/>
                </a:lnTo>
                <a:lnTo>
                  <a:pt x="2633682" y="328876"/>
                </a:lnTo>
                <a:lnTo>
                  <a:pt x="2643582" y="299604"/>
                </a:lnTo>
                <a:lnTo>
                  <a:pt x="2649663" y="269230"/>
                </a:lnTo>
                <a:lnTo>
                  <a:pt x="2649695" y="269075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959" y="0"/>
                </a:lnTo>
                <a:close/>
              </a:path>
            </a:pathLst>
          </a:custGeom>
          <a:solidFill>
            <a:srgbClr val="FF9E1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60057" y="3874935"/>
            <a:ext cx="1184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Governed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60764" y="3748684"/>
            <a:ext cx="2651760" cy="476250"/>
          </a:xfrm>
          <a:custGeom>
            <a:avLst/>
            <a:gdLst/>
            <a:ahLst/>
            <a:cxnLst/>
            <a:rect l="l" t="t" r="r" b="b"/>
            <a:pathLst>
              <a:path w="2651759" h="476250">
                <a:moveTo>
                  <a:pt x="237591" y="0"/>
                </a:moveTo>
                <a:lnTo>
                  <a:pt x="176302" y="8185"/>
                </a:lnTo>
                <a:lnTo>
                  <a:pt x="118795" y="32029"/>
                </a:lnTo>
                <a:lnTo>
                  <a:pt x="69562" y="69789"/>
                </a:lnTo>
                <a:lnTo>
                  <a:pt x="31673" y="119151"/>
                </a:lnTo>
                <a:lnTo>
                  <a:pt x="8140" y="176393"/>
                </a:lnTo>
                <a:lnTo>
                  <a:pt x="0" y="237959"/>
                </a:lnTo>
                <a:lnTo>
                  <a:pt x="0" y="238315"/>
                </a:lnTo>
                <a:lnTo>
                  <a:pt x="2002" y="269075"/>
                </a:lnTo>
                <a:lnTo>
                  <a:pt x="2012" y="269230"/>
                </a:lnTo>
                <a:lnTo>
                  <a:pt x="8007" y="299604"/>
                </a:lnTo>
                <a:lnTo>
                  <a:pt x="17864" y="328876"/>
                </a:lnTo>
                <a:lnTo>
                  <a:pt x="17916" y="329032"/>
                </a:lnTo>
                <a:lnTo>
                  <a:pt x="48981" y="382977"/>
                </a:lnTo>
                <a:lnTo>
                  <a:pt x="92779" y="426875"/>
                </a:lnTo>
                <a:lnTo>
                  <a:pt x="146674" y="457842"/>
                </a:lnTo>
                <a:lnTo>
                  <a:pt x="206476" y="473854"/>
                </a:lnTo>
                <a:lnTo>
                  <a:pt x="237591" y="475919"/>
                </a:lnTo>
                <a:lnTo>
                  <a:pt x="2413800" y="475919"/>
                </a:lnTo>
                <a:lnTo>
                  <a:pt x="2475178" y="467772"/>
                </a:lnTo>
                <a:lnTo>
                  <a:pt x="2532951" y="443877"/>
                </a:lnTo>
                <a:lnTo>
                  <a:pt x="2582184" y="406122"/>
                </a:lnTo>
                <a:lnTo>
                  <a:pt x="2620073" y="356755"/>
                </a:lnTo>
                <a:lnTo>
                  <a:pt x="2633606" y="329032"/>
                </a:lnTo>
                <a:lnTo>
                  <a:pt x="2633682" y="328876"/>
                </a:lnTo>
                <a:lnTo>
                  <a:pt x="2643582" y="299604"/>
                </a:lnTo>
                <a:lnTo>
                  <a:pt x="2649663" y="269230"/>
                </a:lnTo>
                <a:lnTo>
                  <a:pt x="2649695" y="269075"/>
                </a:lnTo>
                <a:lnTo>
                  <a:pt x="2651736" y="238315"/>
                </a:lnTo>
                <a:lnTo>
                  <a:pt x="2651736" y="237959"/>
                </a:lnTo>
                <a:lnTo>
                  <a:pt x="2643568" y="176709"/>
                </a:lnTo>
                <a:lnTo>
                  <a:pt x="2619717" y="119151"/>
                </a:lnTo>
                <a:lnTo>
                  <a:pt x="2581962" y="69927"/>
                </a:lnTo>
                <a:lnTo>
                  <a:pt x="2532595" y="32029"/>
                </a:lnTo>
                <a:lnTo>
                  <a:pt x="2475355" y="8501"/>
                </a:lnTo>
                <a:lnTo>
                  <a:pt x="2413800" y="355"/>
                </a:lnTo>
                <a:lnTo>
                  <a:pt x="237591" y="0"/>
                </a:lnTo>
                <a:close/>
              </a:path>
            </a:pathLst>
          </a:custGeom>
          <a:solidFill>
            <a:srgbClr val="0095B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82175" y="3874935"/>
            <a:ext cx="10077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3575" y="4648200"/>
            <a:ext cx="7848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Built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fully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custom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 architecture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4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4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coordinated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EA2B0"/>
                </a:solidFill>
                <a:latin typeface="Calibri"/>
                <a:cs typeface="Calibri"/>
              </a:rPr>
              <a:t>an</a:t>
            </a:r>
            <a:r>
              <a:rPr sz="14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EA2B0"/>
                </a:solidFill>
                <a:latin typeface="Calibri"/>
                <a:cs typeface="Calibri"/>
              </a:rPr>
              <a:t>Orchestrator.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Multi-</a:t>
            </a:r>
            <a:r>
              <a:rPr dirty="0"/>
              <a:t>Agent</a:t>
            </a:r>
            <a:r>
              <a:rPr spc="-7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022636" y="959764"/>
            <a:ext cx="4115435" cy="713740"/>
            <a:chOff x="4022636" y="959764"/>
            <a:chExt cx="4115435" cy="713740"/>
          </a:xfrm>
        </p:grpSpPr>
        <p:sp>
          <p:nvSpPr>
            <p:cNvPr id="6" name="object 6"/>
            <p:cNvSpPr/>
            <p:nvPr/>
          </p:nvSpPr>
          <p:spPr>
            <a:xfrm>
              <a:off x="4022636" y="959764"/>
              <a:ext cx="4115435" cy="713740"/>
            </a:xfrm>
            <a:custGeom>
              <a:avLst/>
              <a:gdLst/>
              <a:ahLst/>
              <a:cxnLst/>
              <a:rect l="l" t="t" r="r" b="b"/>
              <a:pathLst>
                <a:path w="4115434" h="713739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622071"/>
                  </a:lnTo>
                  <a:lnTo>
                    <a:pt x="798" y="634078"/>
                  </a:lnTo>
                  <a:lnTo>
                    <a:pt x="18843" y="677835"/>
                  </a:lnTo>
                  <a:lnTo>
                    <a:pt x="56512" y="706530"/>
                  </a:lnTo>
                  <a:lnTo>
                    <a:pt x="91439" y="713511"/>
                  </a:lnTo>
                  <a:lnTo>
                    <a:pt x="4023728" y="713511"/>
                  </a:lnTo>
                  <a:lnTo>
                    <a:pt x="4069448" y="701281"/>
                  </a:lnTo>
                  <a:lnTo>
                    <a:pt x="4102925" y="667791"/>
                  </a:lnTo>
                  <a:lnTo>
                    <a:pt x="4115168" y="622071"/>
                  </a:lnTo>
                  <a:lnTo>
                    <a:pt x="4115144" y="91439"/>
                  </a:lnTo>
                  <a:lnTo>
                    <a:pt x="4102925" y="46075"/>
                  </a:lnTo>
                  <a:lnTo>
                    <a:pt x="4069448" y="12598"/>
                  </a:lnTo>
                  <a:lnTo>
                    <a:pt x="40237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92D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60520" y="102420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282" y="0"/>
                  </a:moveTo>
                  <a:lnTo>
                    <a:pt x="186304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59"/>
                  </a:lnTo>
                  <a:lnTo>
                    <a:pt x="0" y="251269"/>
                  </a:lnTo>
                  <a:lnTo>
                    <a:pt x="2148" y="284218"/>
                  </a:lnTo>
                  <a:lnTo>
                    <a:pt x="19138" y="347411"/>
                  </a:lnTo>
                  <a:lnTo>
                    <a:pt x="52085" y="404323"/>
                  </a:lnTo>
                  <a:lnTo>
                    <a:pt x="98285" y="450776"/>
                  </a:lnTo>
                  <a:lnTo>
                    <a:pt x="155196" y="483568"/>
                  </a:lnTo>
                  <a:lnTo>
                    <a:pt x="218490" y="500408"/>
                  </a:lnTo>
                  <a:lnTo>
                    <a:pt x="251282" y="502551"/>
                  </a:lnTo>
                  <a:lnTo>
                    <a:pt x="284279" y="500408"/>
                  </a:lnTo>
                  <a:lnTo>
                    <a:pt x="347717" y="483568"/>
                  </a:lnTo>
                  <a:lnTo>
                    <a:pt x="404634" y="450776"/>
                  </a:lnTo>
                  <a:lnTo>
                    <a:pt x="450834" y="404323"/>
                  </a:lnTo>
                  <a:lnTo>
                    <a:pt x="483781" y="347411"/>
                  </a:lnTo>
                  <a:lnTo>
                    <a:pt x="500771" y="284218"/>
                  </a:lnTo>
                  <a:lnTo>
                    <a:pt x="502919" y="251269"/>
                  </a:lnTo>
                  <a:lnTo>
                    <a:pt x="500771" y="218327"/>
                  </a:lnTo>
                  <a:lnTo>
                    <a:pt x="483781" y="155139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17" y="18982"/>
                  </a:lnTo>
                  <a:lnTo>
                    <a:pt x="284279" y="2142"/>
                  </a:lnTo>
                  <a:lnTo>
                    <a:pt x="251282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296854" y="1134569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FFFFFF"/>
                </a:solidFill>
                <a:latin typeface="MingLiU_HKSCS-ExtB"/>
                <a:cs typeface="MingLiU_HKSCS-ExtB"/>
              </a:rPr>
              <a:t>⚙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3465" y="1034235"/>
            <a:ext cx="1670050" cy="53467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Routes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right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6476" y="1673275"/>
            <a:ext cx="6949440" cy="3676015"/>
            <a:chOff x="456476" y="1673275"/>
            <a:chExt cx="6949440" cy="3676015"/>
          </a:xfrm>
        </p:grpSpPr>
        <p:sp>
          <p:nvSpPr>
            <p:cNvPr id="11" name="object 11"/>
            <p:cNvSpPr/>
            <p:nvPr/>
          </p:nvSpPr>
          <p:spPr>
            <a:xfrm>
              <a:off x="1919884" y="1673275"/>
              <a:ext cx="5486400" cy="612775"/>
            </a:xfrm>
            <a:custGeom>
              <a:avLst/>
              <a:gdLst/>
              <a:ahLst/>
              <a:cxnLst/>
              <a:rect l="l" t="t" r="r" b="b"/>
              <a:pathLst>
                <a:path w="5486400" h="612775">
                  <a:moveTo>
                    <a:pt x="5486031" y="228244"/>
                  </a:moveTo>
                  <a:lnTo>
                    <a:pt x="2669756" y="228244"/>
                  </a:lnTo>
                  <a:lnTo>
                    <a:pt x="2669756" y="0"/>
                  </a:lnTo>
                  <a:lnTo>
                    <a:pt x="2633395" y="0"/>
                  </a:lnTo>
                  <a:lnTo>
                    <a:pt x="2633395" y="228244"/>
                  </a:lnTo>
                  <a:lnTo>
                    <a:pt x="0" y="228244"/>
                  </a:lnTo>
                  <a:lnTo>
                    <a:pt x="0" y="228600"/>
                  </a:lnTo>
                  <a:lnTo>
                    <a:pt x="0" y="264604"/>
                  </a:lnTo>
                  <a:lnTo>
                    <a:pt x="0" y="612368"/>
                  </a:lnTo>
                  <a:lnTo>
                    <a:pt x="18351" y="612368"/>
                  </a:lnTo>
                  <a:lnTo>
                    <a:pt x="36360" y="612368"/>
                  </a:lnTo>
                  <a:lnTo>
                    <a:pt x="36360" y="264604"/>
                  </a:lnTo>
                  <a:lnTo>
                    <a:pt x="2633395" y="264604"/>
                  </a:lnTo>
                  <a:lnTo>
                    <a:pt x="2633395" y="475208"/>
                  </a:lnTo>
                  <a:lnTo>
                    <a:pt x="2651760" y="475208"/>
                  </a:lnTo>
                  <a:lnTo>
                    <a:pt x="2669756" y="475208"/>
                  </a:lnTo>
                  <a:lnTo>
                    <a:pt x="2669756" y="264604"/>
                  </a:lnTo>
                  <a:lnTo>
                    <a:pt x="2743200" y="264604"/>
                  </a:lnTo>
                  <a:lnTo>
                    <a:pt x="5449671" y="264604"/>
                  </a:lnTo>
                  <a:lnTo>
                    <a:pt x="5449671" y="612368"/>
                  </a:lnTo>
                  <a:lnTo>
                    <a:pt x="5468036" y="612368"/>
                  </a:lnTo>
                  <a:lnTo>
                    <a:pt x="5486031" y="612368"/>
                  </a:lnTo>
                  <a:lnTo>
                    <a:pt x="5486031" y="264604"/>
                  </a:lnTo>
                  <a:lnTo>
                    <a:pt x="5486031" y="228600"/>
                  </a:lnTo>
                  <a:lnTo>
                    <a:pt x="5486031" y="228244"/>
                  </a:lnTo>
                  <a:close/>
                </a:path>
              </a:pathLst>
            </a:custGeom>
            <a:solidFill>
              <a:srgbClr val="8E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476" y="2285644"/>
              <a:ext cx="5029835" cy="3063875"/>
            </a:xfrm>
            <a:custGeom>
              <a:avLst/>
              <a:gdLst/>
              <a:ahLst/>
              <a:cxnLst/>
              <a:rect l="l" t="t" r="r" b="b"/>
              <a:pathLst>
                <a:path w="5029835" h="30638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2972155"/>
                  </a:lnTo>
                  <a:lnTo>
                    <a:pt x="798" y="2984160"/>
                  </a:lnTo>
                  <a:lnTo>
                    <a:pt x="18843" y="3027919"/>
                  </a:lnTo>
                  <a:lnTo>
                    <a:pt x="56512" y="3056609"/>
                  </a:lnTo>
                  <a:lnTo>
                    <a:pt x="91440" y="3063595"/>
                  </a:lnTo>
                  <a:lnTo>
                    <a:pt x="4938128" y="3063595"/>
                  </a:lnTo>
                  <a:lnTo>
                    <a:pt x="4983848" y="3051352"/>
                  </a:lnTo>
                  <a:lnTo>
                    <a:pt x="5017325" y="3017875"/>
                  </a:lnTo>
                  <a:lnTo>
                    <a:pt x="5029568" y="2972155"/>
                  </a:lnTo>
                  <a:lnTo>
                    <a:pt x="5029544" y="91440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6844" y="2285644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594360" y="338391"/>
                  </a:moveTo>
                  <a:lnTo>
                    <a:pt x="586613" y="279323"/>
                  </a:lnTo>
                  <a:lnTo>
                    <a:pt x="563753" y="224269"/>
                  </a:lnTo>
                  <a:lnTo>
                    <a:pt x="527392" y="176809"/>
                  </a:lnTo>
                  <a:lnTo>
                    <a:pt x="480237" y="140398"/>
                  </a:lnTo>
                  <a:lnTo>
                    <a:pt x="424878" y="117538"/>
                  </a:lnTo>
                  <a:lnTo>
                    <a:pt x="365760" y="109791"/>
                  </a:lnTo>
                  <a:lnTo>
                    <a:pt x="335915" y="111747"/>
                  </a:lnTo>
                  <a:lnTo>
                    <a:pt x="278269" y="127114"/>
                  </a:lnTo>
                  <a:lnTo>
                    <a:pt x="226466" y="157099"/>
                  </a:lnTo>
                  <a:lnTo>
                    <a:pt x="184442" y="199275"/>
                  </a:lnTo>
                  <a:lnTo>
                    <a:pt x="154470" y="251079"/>
                  </a:lnTo>
                  <a:lnTo>
                    <a:pt x="139103" y="308571"/>
                  </a:lnTo>
                  <a:lnTo>
                    <a:pt x="137160" y="338391"/>
                  </a:lnTo>
                  <a:lnTo>
                    <a:pt x="139103" y="368236"/>
                  </a:lnTo>
                  <a:lnTo>
                    <a:pt x="154470" y="425881"/>
                  </a:lnTo>
                  <a:lnTo>
                    <a:pt x="184454" y="477672"/>
                  </a:lnTo>
                  <a:lnTo>
                    <a:pt x="226631" y="519709"/>
                  </a:lnTo>
                  <a:lnTo>
                    <a:pt x="278422" y="549681"/>
                  </a:lnTo>
                  <a:lnTo>
                    <a:pt x="335915" y="565048"/>
                  </a:lnTo>
                  <a:lnTo>
                    <a:pt x="365760" y="566991"/>
                  </a:lnTo>
                  <a:lnTo>
                    <a:pt x="395579" y="565048"/>
                  </a:lnTo>
                  <a:lnTo>
                    <a:pt x="453224" y="549681"/>
                  </a:lnTo>
                  <a:lnTo>
                    <a:pt x="505028" y="519709"/>
                  </a:lnTo>
                  <a:lnTo>
                    <a:pt x="547052" y="477672"/>
                  </a:lnTo>
                  <a:lnTo>
                    <a:pt x="577037" y="425881"/>
                  </a:lnTo>
                  <a:lnTo>
                    <a:pt x="592404" y="368236"/>
                  </a:lnTo>
                  <a:lnTo>
                    <a:pt x="594360" y="338391"/>
                  </a:lnTo>
                  <a:close/>
                </a:path>
                <a:path w="5029200" h="567055">
                  <a:moveTo>
                    <a:pt x="5028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2514600" y="54356"/>
                  </a:lnTo>
                  <a:lnTo>
                    <a:pt x="5028831" y="54356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9104" y="25198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C1A29"/>
                </a:solidFill>
                <a:latin typeface="Calibri"/>
                <a:cs typeface="Calibri"/>
              </a:rPr>
              <a:t>①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9936" y="2455776"/>
            <a:ext cx="230060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SQL</a:t>
            </a:r>
            <a:r>
              <a:rPr sz="13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Agent</a:t>
            </a:r>
            <a:r>
              <a:rPr sz="1300" b="1" spc="26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00B3D7"/>
                </a:solidFill>
                <a:latin typeface="MingLiU_HKSCS-ExtB"/>
                <a:cs typeface="MingLiU_HKSCS-ExtB"/>
              </a:rPr>
              <a:t>✅</a:t>
            </a:r>
            <a:r>
              <a:rPr sz="1500" spc="-345" dirty="0">
                <a:solidFill>
                  <a:srgbClr val="00B3D7"/>
                </a:solidFill>
                <a:latin typeface="MingLiU_HKSCS-ExtB"/>
                <a:cs typeface="MingLiU_HKSCS-ExtB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Phase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1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Complete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016" y="2913011"/>
            <a:ext cx="389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EA2B0"/>
                </a:solidFill>
                <a:latin typeface="Calibri"/>
                <a:cs typeface="Calibri"/>
              </a:rPr>
              <a:t>Tools: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9724" y="321876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395" y="302055"/>
                </a:lnTo>
                <a:lnTo>
                  <a:pt x="5464" y="302260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60904" y="293304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4176" y="3286341"/>
            <a:ext cx="16827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9724" y="362088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367" y="292992"/>
                </a:lnTo>
                <a:lnTo>
                  <a:pt x="2428" y="293304"/>
                </a:lnTo>
                <a:lnTo>
                  <a:pt x="5395" y="302055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4176" y="3688829"/>
            <a:ext cx="10960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724" y="4023359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67"/>
                </a:lnTo>
                <a:lnTo>
                  <a:pt x="606" y="63449"/>
                </a:lnTo>
                <a:lnTo>
                  <a:pt x="0" y="73075"/>
                </a:lnTo>
                <a:lnTo>
                  <a:pt x="0" y="274319"/>
                </a:lnTo>
                <a:lnTo>
                  <a:pt x="15091" y="318697"/>
                </a:lnTo>
                <a:lnTo>
                  <a:pt x="54041" y="344966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41"/>
                </a:lnTo>
                <a:lnTo>
                  <a:pt x="4660903" y="293309"/>
                </a:lnTo>
                <a:lnTo>
                  <a:pt x="4661009" y="292993"/>
                </a:lnTo>
                <a:lnTo>
                  <a:pt x="4662764" y="283948"/>
                </a:lnTo>
                <a:lnTo>
                  <a:pt x="4662832" y="283596"/>
                </a:lnTo>
                <a:lnTo>
                  <a:pt x="4663417" y="274319"/>
                </a:lnTo>
                <a:lnTo>
                  <a:pt x="4663071" y="73075"/>
                </a:lnTo>
                <a:lnTo>
                  <a:pt x="4647980" y="28705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4176" y="4090949"/>
            <a:ext cx="1677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tool_load_source_into_temp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724" y="442583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20"/>
                </a:lnTo>
                <a:lnTo>
                  <a:pt x="5394" y="302060"/>
                </a:lnTo>
                <a:lnTo>
                  <a:pt x="5464" y="302268"/>
                </a:lnTo>
                <a:lnTo>
                  <a:pt x="36360" y="337680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3417" y="274320"/>
                </a:lnTo>
                <a:lnTo>
                  <a:pt x="4663440" y="273964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4176" y="4493425"/>
            <a:ext cx="1019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tool_query_temp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9724" y="482795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19"/>
                </a:lnTo>
                <a:lnTo>
                  <a:pt x="15091" y="318697"/>
                </a:lnTo>
                <a:lnTo>
                  <a:pt x="54041" y="344978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3417" y="274319"/>
                </a:lnTo>
                <a:lnTo>
                  <a:pt x="4663440" y="273964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00B3D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54176" y="4895545"/>
            <a:ext cx="1266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tool_list_temp_tables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74396" y="2285644"/>
            <a:ext cx="5029835" cy="3063875"/>
            <a:chOff x="6674396" y="2285644"/>
            <a:chExt cx="5029835" cy="3063875"/>
          </a:xfrm>
        </p:grpSpPr>
        <p:sp>
          <p:nvSpPr>
            <p:cNvPr id="28" name="object 28"/>
            <p:cNvSpPr/>
            <p:nvPr/>
          </p:nvSpPr>
          <p:spPr>
            <a:xfrm>
              <a:off x="6674396" y="2285644"/>
              <a:ext cx="5029835" cy="3063875"/>
            </a:xfrm>
            <a:custGeom>
              <a:avLst/>
              <a:gdLst/>
              <a:ahLst/>
              <a:cxnLst/>
              <a:rect l="l" t="t" r="r" b="b"/>
              <a:pathLst>
                <a:path w="5029834" h="30638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2972155"/>
                  </a:lnTo>
                  <a:lnTo>
                    <a:pt x="798" y="2984160"/>
                  </a:lnTo>
                  <a:lnTo>
                    <a:pt x="18843" y="3027919"/>
                  </a:lnTo>
                  <a:lnTo>
                    <a:pt x="56512" y="3056609"/>
                  </a:lnTo>
                  <a:lnTo>
                    <a:pt x="91440" y="3063595"/>
                  </a:lnTo>
                  <a:lnTo>
                    <a:pt x="4938128" y="3063595"/>
                  </a:lnTo>
                  <a:lnTo>
                    <a:pt x="4983848" y="3051352"/>
                  </a:lnTo>
                  <a:lnTo>
                    <a:pt x="5017325" y="3017875"/>
                  </a:lnTo>
                  <a:lnTo>
                    <a:pt x="5029568" y="2972155"/>
                  </a:lnTo>
                  <a:lnTo>
                    <a:pt x="5029544" y="91440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74765" y="2285644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594360" y="338391"/>
                  </a:moveTo>
                  <a:lnTo>
                    <a:pt x="586613" y="279323"/>
                  </a:lnTo>
                  <a:lnTo>
                    <a:pt x="563753" y="224269"/>
                  </a:lnTo>
                  <a:lnTo>
                    <a:pt x="527392" y="176809"/>
                  </a:lnTo>
                  <a:lnTo>
                    <a:pt x="480237" y="140398"/>
                  </a:lnTo>
                  <a:lnTo>
                    <a:pt x="424878" y="117538"/>
                  </a:lnTo>
                  <a:lnTo>
                    <a:pt x="365760" y="109791"/>
                  </a:lnTo>
                  <a:lnTo>
                    <a:pt x="335915" y="111747"/>
                  </a:lnTo>
                  <a:lnTo>
                    <a:pt x="278422" y="127114"/>
                  </a:lnTo>
                  <a:lnTo>
                    <a:pt x="226631" y="157099"/>
                  </a:lnTo>
                  <a:lnTo>
                    <a:pt x="184454" y="199275"/>
                  </a:lnTo>
                  <a:lnTo>
                    <a:pt x="154470" y="251079"/>
                  </a:lnTo>
                  <a:lnTo>
                    <a:pt x="139103" y="308571"/>
                  </a:lnTo>
                  <a:lnTo>
                    <a:pt x="137160" y="338391"/>
                  </a:lnTo>
                  <a:lnTo>
                    <a:pt x="139103" y="368236"/>
                  </a:lnTo>
                  <a:lnTo>
                    <a:pt x="154470" y="425881"/>
                  </a:lnTo>
                  <a:lnTo>
                    <a:pt x="184454" y="477672"/>
                  </a:lnTo>
                  <a:lnTo>
                    <a:pt x="226631" y="519709"/>
                  </a:lnTo>
                  <a:lnTo>
                    <a:pt x="278422" y="549681"/>
                  </a:lnTo>
                  <a:lnTo>
                    <a:pt x="335915" y="565048"/>
                  </a:lnTo>
                  <a:lnTo>
                    <a:pt x="365760" y="566991"/>
                  </a:lnTo>
                  <a:lnTo>
                    <a:pt x="395579" y="565048"/>
                  </a:lnTo>
                  <a:lnTo>
                    <a:pt x="453224" y="549681"/>
                  </a:lnTo>
                  <a:lnTo>
                    <a:pt x="505028" y="519709"/>
                  </a:lnTo>
                  <a:lnTo>
                    <a:pt x="547052" y="477672"/>
                  </a:lnTo>
                  <a:lnTo>
                    <a:pt x="577037" y="425881"/>
                  </a:lnTo>
                  <a:lnTo>
                    <a:pt x="592404" y="368236"/>
                  </a:lnTo>
                  <a:lnTo>
                    <a:pt x="594360" y="338391"/>
                  </a:lnTo>
                  <a:close/>
                </a:path>
                <a:path w="5029200" h="567055">
                  <a:moveTo>
                    <a:pt x="5028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2514600" y="54356"/>
                  </a:lnTo>
                  <a:lnTo>
                    <a:pt x="5028831" y="54356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27024" y="25198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C1A29"/>
                </a:solidFill>
                <a:latin typeface="Calibri"/>
                <a:cs typeface="Calibri"/>
              </a:rPr>
              <a:t>②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37856" y="2455776"/>
            <a:ext cx="242062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RAG</a:t>
            </a:r>
            <a:r>
              <a:rPr sz="1300" b="1" spc="-45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Agent</a:t>
            </a:r>
            <a:r>
              <a:rPr sz="1300" b="1" spc="26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FF9E1B"/>
                </a:solidFill>
                <a:latin typeface="MingLiU_HKSCS-ExtB"/>
                <a:cs typeface="MingLiU_HKSCS-ExtB"/>
              </a:rPr>
              <a:t>🔨</a:t>
            </a:r>
            <a:r>
              <a:rPr sz="1500" spc="-340" dirty="0">
                <a:solidFill>
                  <a:srgbClr val="FF9E1B"/>
                </a:solidFill>
                <a:latin typeface="MingLiU_HKSCS-ExtB"/>
                <a:cs typeface="MingLiU_HKSCS-ExtB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Phase</a:t>
            </a:r>
            <a:r>
              <a:rPr sz="1300" b="1" spc="-2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2</a:t>
            </a:r>
            <a:r>
              <a:rPr sz="1300" b="1" spc="-25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9E1B"/>
                </a:solidFill>
                <a:latin typeface="Calibri"/>
                <a:cs typeface="Calibri"/>
              </a:rPr>
              <a:t>—</a:t>
            </a:r>
            <a:r>
              <a:rPr sz="1300" b="1" spc="-20" dirty="0">
                <a:solidFill>
                  <a:srgbClr val="FF9E1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9E1B"/>
                </a:solidFill>
                <a:latin typeface="Calibri"/>
                <a:cs typeface="Calibri"/>
              </a:rPr>
              <a:t>Building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34936" y="2913011"/>
            <a:ext cx="389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EA2B0"/>
                </a:solidFill>
                <a:latin typeface="Calibri"/>
                <a:cs typeface="Calibri"/>
              </a:rPr>
              <a:t>Tools: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57644" y="321876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1413" y="325928"/>
                </a:lnTo>
                <a:lnTo>
                  <a:pt x="63442" y="346788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57868" y="302260"/>
                </a:lnTo>
                <a:lnTo>
                  <a:pt x="4657969" y="302055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72096" y="3286341"/>
            <a:ext cx="13328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tool_index_documents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57644" y="3620884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58"/>
                </a:lnTo>
                <a:lnTo>
                  <a:pt x="606" y="63447"/>
                </a:lnTo>
                <a:lnTo>
                  <a:pt x="0" y="73075"/>
                </a:lnTo>
                <a:lnTo>
                  <a:pt x="0" y="274319"/>
                </a:lnTo>
                <a:lnTo>
                  <a:pt x="584" y="283590"/>
                </a:lnTo>
                <a:lnTo>
                  <a:pt x="607" y="283946"/>
                </a:lnTo>
                <a:lnTo>
                  <a:pt x="2367" y="292992"/>
                </a:lnTo>
                <a:lnTo>
                  <a:pt x="2428" y="293304"/>
                </a:lnTo>
                <a:lnTo>
                  <a:pt x="28548" y="332291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36"/>
                </a:lnTo>
                <a:lnTo>
                  <a:pt x="4657868" y="302260"/>
                </a:lnTo>
                <a:lnTo>
                  <a:pt x="4657969" y="302055"/>
                </a:lnTo>
                <a:lnTo>
                  <a:pt x="4660904" y="293304"/>
                </a:lnTo>
                <a:lnTo>
                  <a:pt x="4661009" y="292992"/>
                </a:lnTo>
                <a:lnTo>
                  <a:pt x="4662763" y="283946"/>
                </a:lnTo>
                <a:lnTo>
                  <a:pt x="4662832" y="283590"/>
                </a:lnTo>
                <a:lnTo>
                  <a:pt x="4663416" y="274319"/>
                </a:lnTo>
                <a:lnTo>
                  <a:pt x="4663440" y="273951"/>
                </a:lnTo>
                <a:lnTo>
                  <a:pt x="4663071" y="73075"/>
                </a:lnTo>
                <a:lnTo>
                  <a:pt x="4647980" y="28698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72096" y="3688829"/>
            <a:ext cx="1396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57644" y="4023359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8" y="21467"/>
                </a:lnTo>
                <a:lnTo>
                  <a:pt x="606" y="63449"/>
                </a:lnTo>
                <a:lnTo>
                  <a:pt x="0" y="73075"/>
                </a:lnTo>
                <a:lnTo>
                  <a:pt x="0" y="274319"/>
                </a:lnTo>
                <a:lnTo>
                  <a:pt x="585" y="283596"/>
                </a:lnTo>
                <a:lnTo>
                  <a:pt x="607" y="283948"/>
                </a:lnTo>
                <a:lnTo>
                  <a:pt x="2367" y="292993"/>
                </a:lnTo>
                <a:lnTo>
                  <a:pt x="2428" y="293309"/>
                </a:lnTo>
                <a:lnTo>
                  <a:pt x="5393" y="302055"/>
                </a:lnTo>
                <a:lnTo>
                  <a:pt x="36360" y="337680"/>
                </a:lnTo>
                <a:lnTo>
                  <a:pt x="73075" y="347395"/>
                </a:lnTo>
                <a:lnTo>
                  <a:pt x="4590351" y="347040"/>
                </a:lnTo>
                <a:lnTo>
                  <a:pt x="4634729" y="331941"/>
                </a:lnTo>
                <a:lnTo>
                  <a:pt x="4657865" y="302266"/>
                </a:lnTo>
                <a:lnTo>
                  <a:pt x="4657969" y="302055"/>
                </a:lnTo>
                <a:lnTo>
                  <a:pt x="4660903" y="293309"/>
                </a:lnTo>
                <a:lnTo>
                  <a:pt x="4661009" y="292993"/>
                </a:lnTo>
                <a:lnTo>
                  <a:pt x="4662764" y="283948"/>
                </a:lnTo>
                <a:lnTo>
                  <a:pt x="4662832" y="283596"/>
                </a:lnTo>
                <a:lnTo>
                  <a:pt x="4663417" y="274319"/>
                </a:lnTo>
                <a:lnTo>
                  <a:pt x="4663440" y="273964"/>
                </a:lnTo>
                <a:lnTo>
                  <a:pt x="4663071" y="73075"/>
                </a:lnTo>
                <a:lnTo>
                  <a:pt x="4647980" y="28705"/>
                </a:lnTo>
                <a:lnTo>
                  <a:pt x="4609030" y="2428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72096" y="4090949"/>
            <a:ext cx="1646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tool_get_document_context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857644" y="4425835"/>
            <a:ext cx="4663440" cy="347980"/>
          </a:xfrm>
          <a:custGeom>
            <a:avLst/>
            <a:gdLst/>
            <a:ahLst/>
            <a:cxnLst/>
            <a:rect l="l" t="t" r="r" b="b"/>
            <a:pathLst>
              <a:path w="4663440" h="347979">
                <a:moveTo>
                  <a:pt x="4589995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274320"/>
                </a:lnTo>
                <a:lnTo>
                  <a:pt x="584" y="283598"/>
                </a:lnTo>
                <a:lnTo>
                  <a:pt x="607" y="283953"/>
                </a:lnTo>
                <a:lnTo>
                  <a:pt x="21413" y="325937"/>
                </a:lnTo>
                <a:lnTo>
                  <a:pt x="63442" y="346801"/>
                </a:lnTo>
                <a:lnTo>
                  <a:pt x="73075" y="347408"/>
                </a:lnTo>
                <a:lnTo>
                  <a:pt x="4590351" y="347040"/>
                </a:lnTo>
                <a:lnTo>
                  <a:pt x="4634729" y="331948"/>
                </a:lnTo>
                <a:lnTo>
                  <a:pt x="4660903" y="293314"/>
                </a:lnTo>
                <a:lnTo>
                  <a:pt x="4661009" y="292998"/>
                </a:lnTo>
                <a:lnTo>
                  <a:pt x="4662763" y="283953"/>
                </a:lnTo>
                <a:lnTo>
                  <a:pt x="4662832" y="283598"/>
                </a:lnTo>
                <a:lnTo>
                  <a:pt x="4663417" y="274320"/>
                </a:lnTo>
                <a:lnTo>
                  <a:pt x="4663071" y="73088"/>
                </a:lnTo>
                <a:lnTo>
                  <a:pt x="4647980" y="28710"/>
                </a:lnTo>
                <a:lnTo>
                  <a:pt x="4609030" y="2430"/>
                </a:lnTo>
                <a:lnTo>
                  <a:pt x="4599629" y="607"/>
                </a:lnTo>
                <a:lnTo>
                  <a:pt x="4589995" y="0"/>
                </a:lnTo>
                <a:close/>
              </a:path>
            </a:pathLst>
          </a:custGeom>
          <a:solidFill>
            <a:srgbClr val="FF9E1B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072096" y="4493425"/>
            <a:ext cx="1331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tool_list_indexed_docs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07815" y="5587809"/>
            <a:ext cx="493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has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its</a:t>
            </a:r>
            <a:r>
              <a:rPr sz="120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loop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scratchpad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i="1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8EA2B0"/>
                </a:solidFill>
                <a:latin typeface="Calibri"/>
                <a:cs typeface="Calibri"/>
              </a:rPr>
              <a:t>LangSmith</a:t>
            </a:r>
            <a:r>
              <a:rPr sz="120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8EA2B0"/>
                </a:solidFill>
                <a:latin typeface="Calibri"/>
                <a:cs typeface="Calibri"/>
              </a:rPr>
              <a:t>trace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57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3564" y="-15773"/>
            <a:ext cx="4985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spc="-20" dirty="0"/>
              <a:t>Works</a:t>
            </a:r>
          </a:p>
        </p:txBody>
      </p:sp>
      <p:sp>
        <p:nvSpPr>
          <p:cNvPr id="4" name="object 4"/>
          <p:cNvSpPr/>
          <p:nvPr/>
        </p:nvSpPr>
        <p:spPr>
          <a:xfrm>
            <a:off x="671296" y="418837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2684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80" h="1463039">
                <a:moveTo>
                  <a:pt x="1691640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20" y="1450809"/>
                </a:lnTo>
                <a:lnTo>
                  <a:pt x="91439" y="1463040"/>
                </a:lnTo>
                <a:lnTo>
                  <a:pt x="1691640" y="1463040"/>
                </a:lnTo>
                <a:lnTo>
                  <a:pt x="1737360" y="1450809"/>
                </a:lnTo>
                <a:lnTo>
                  <a:pt x="1770837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37" y="45720"/>
                </a:lnTo>
                <a:lnTo>
                  <a:pt x="1737360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9774" y="1569136"/>
            <a:ext cx="688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838" y="1973053"/>
            <a:ext cx="10971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marR="5080" indent="-10795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Plain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English question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7575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1974" y="1415292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40" y="0"/>
                </a:moveTo>
                <a:lnTo>
                  <a:pt x="91439" y="0"/>
                </a:lnTo>
                <a:lnTo>
                  <a:pt x="79440" y="798"/>
                </a:lnTo>
                <a:lnTo>
                  <a:pt x="35683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40" y="1463040"/>
                </a:lnTo>
                <a:lnTo>
                  <a:pt x="1737359" y="1450809"/>
                </a:lnTo>
                <a:lnTo>
                  <a:pt x="1770849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49" y="45720"/>
                </a:lnTo>
                <a:lnTo>
                  <a:pt x="1737359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26257" y="1569136"/>
            <a:ext cx="590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7432" y="1938469"/>
            <a:ext cx="169719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019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vs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Conversation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vs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6179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69524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59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59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3975" y="1569136"/>
            <a:ext cx="452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6204" y="1834133"/>
            <a:ext cx="163704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Chitchat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Clarify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14415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08115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40" y="798"/>
                </a:lnTo>
                <a:lnTo>
                  <a:pt x="35683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19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60" y="1450809"/>
                </a:lnTo>
                <a:lnTo>
                  <a:pt x="1770849" y="1417320"/>
                </a:lnTo>
                <a:lnTo>
                  <a:pt x="1783080" y="1371600"/>
                </a:lnTo>
                <a:lnTo>
                  <a:pt x="1783080" y="91440"/>
                </a:lnTo>
                <a:lnTo>
                  <a:pt x="1770849" y="45720"/>
                </a:lnTo>
                <a:lnTo>
                  <a:pt x="1737360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192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86461" y="1569136"/>
            <a:ext cx="82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53975" y="1952548"/>
            <a:ext cx="1089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319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3019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46719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39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43"/>
                </a:lnTo>
                <a:lnTo>
                  <a:pt x="6986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42" y="1417320"/>
                </a:lnTo>
                <a:lnTo>
                  <a:pt x="45720" y="1450809"/>
                </a:lnTo>
                <a:lnTo>
                  <a:pt x="91439" y="1463040"/>
                </a:lnTo>
                <a:lnTo>
                  <a:pt x="1691639" y="1463040"/>
                </a:lnTo>
                <a:lnTo>
                  <a:pt x="1737359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59" y="12242"/>
                </a:lnTo>
                <a:lnTo>
                  <a:pt x="1691639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97786" y="1569136"/>
            <a:ext cx="681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9424" y="1952548"/>
            <a:ext cx="1076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75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tools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independently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91623" y="1986957"/>
            <a:ext cx="2000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65" dirty="0">
                <a:solidFill>
                  <a:srgbClr val="192D41"/>
                </a:solidFill>
                <a:latin typeface="MingLiU_HKSCS-ExtB"/>
                <a:cs typeface="MingLiU_HKSCS-ExtB"/>
              </a:rPr>
              <a:t>▶</a:t>
            </a:r>
            <a:endParaRPr sz="1150">
              <a:latin typeface="MingLiU_HKSCS-ExtB"/>
              <a:cs typeface="MingLiU_HKSCS-ExtB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985323" y="1389595"/>
            <a:ext cx="1783080" cy="1463040"/>
          </a:xfrm>
          <a:custGeom>
            <a:avLst/>
            <a:gdLst/>
            <a:ahLst/>
            <a:cxnLst/>
            <a:rect l="l" t="t" r="r" b="b"/>
            <a:pathLst>
              <a:path w="1783079" h="1463039">
                <a:moveTo>
                  <a:pt x="1691640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1371600"/>
                </a:lnTo>
                <a:lnTo>
                  <a:pt x="12230" y="1417320"/>
                </a:lnTo>
                <a:lnTo>
                  <a:pt x="45720" y="1450809"/>
                </a:lnTo>
                <a:lnTo>
                  <a:pt x="91440" y="1463040"/>
                </a:lnTo>
                <a:lnTo>
                  <a:pt x="1691640" y="1463040"/>
                </a:lnTo>
                <a:lnTo>
                  <a:pt x="1737360" y="1450809"/>
                </a:lnTo>
                <a:lnTo>
                  <a:pt x="1770837" y="1417320"/>
                </a:lnTo>
                <a:lnTo>
                  <a:pt x="1783079" y="1371600"/>
                </a:lnTo>
                <a:lnTo>
                  <a:pt x="1783079" y="91440"/>
                </a:lnTo>
                <a:lnTo>
                  <a:pt x="1770837" y="45720"/>
                </a:lnTo>
                <a:lnTo>
                  <a:pt x="1737360" y="12242"/>
                </a:lnTo>
                <a:lnTo>
                  <a:pt x="169164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457903" y="1569136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97413" y="1952548"/>
            <a:ext cx="9550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Synthesised</a:t>
            </a:r>
            <a:r>
              <a:rPr sz="1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returned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406" y="3367057"/>
            <a:ext cx="17037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92D41"/>
                </a:solidFill>
                <a:latin typeface="Calibri"/>
                <a:cs typeface="Calibri"/>
              </a:rPr>
              <a:t>Router</a:t>
            </a:r>
            <a:r>
              <a:rPr sz="13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2D41"/>
                </a:solidFill>
                <a:latin typeface="Calibri"/>
                <a:cs typeface="Calibri"/>
              </a:rPr>
              <a:t>decides</a:t>
            </a:r>
            <a:r>
              <a:rPr sz="1300" b="1" spc="-3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2D41"/>
                </a:solidFill>
                <a:latin typeface="Calibri"/>
                <a:cs typeface="Calibri"/>
              </a:rPr>
              <a:t>the</a:t>
            </a:r>
            <a:r>
              <a:rPr sz="1300" b="1" spc="-45" dirty="0">
                <a:solidFill>
                  <a:srgbClr val="192D4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92D41"/>
                </a:solidFill>
                <a:latin typeface="Calibri"/>
                <a:cs typeface="Calibri"/>
              </a:rPr>
              <a:t>path: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8579" y="3781703"/>
            <a:ext cx="3657600" cy="1572895"/>
            <a:chOff x="456844" y="3566159"/>
            <a:chExt cx="3657600" cy="1572895"/>
          </a:xfrm>
        </p:grpSpPr>
        <p:sp>
          <p:nvSpPr>
            <p:cNvPr id="30" name="object 30"/>
            <p:cNvSpPr/>
            <p:nvPr/>
          </p:nvSpPr>
          <p:spPr>
            <a:xfrm>
              <a:off x="456844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7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6858" y="1515970"/>
                  </a:lnTo>
                  <a:lnTo>
                    <a:pt x="6981" y="1516331"/>
                  </a:lnTo>
                  <a:lnTo>
                    <a:pt x="35675" y="1554000"/>
                  </a:lnTo>
                  <a:lnTo>
                    <a:pt x="79433" y="1572045"/>
                  </a:lnTo>
                  <a:lnTo>
                    <a:pt x="91439" y="1572844"/>
                  </a:lnTo>
                  <a:lnTo>
                    <a:pt x="3566160" y="1572475"/>
                  </a:lnTo>
                  <a:lnTo>
                    <a:pt x="3611880" y="1560245"/>
                  </a:lnTo>
                  <a:lnTo>
                    <a:pt x="3645357" y="1526755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31" y="91439"/>
                  </a:lnTo>
                  <a:lnTo>
                    <a:pt x="3645001" y="45719"/>
                  </a:lnTo>
                  <a:lnTo>
                    <a:pt x="3611511" y="12242"/>
                  </a:lnTo>
                  <a:lnTo>
                    <a:pt x="3577798" y="798"/>
                  </a:lnTo>
                  <a:lnTo>
                    <a:pt x="356579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4004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39" h="347979">
                  <a:moveTo>
                    <a:pt x="1289151" y="0"/>
                  </a:moveTo>
                  <a:lnTo>
                    <a:pt x="173875" y="0"/>
                  </a:lnTo>
                  <a:lnTo>
                    <a:pt x="151074" y="1478"/>
                  </a:lnTo>
                  <a:lnTo>
                    <a:pt x="107304" y="13056"/>
                  </a:lnTo>
                  <a:lnTo>
                    <a:pt x="67895" y="35624"/>
                  </a:lnTo>
                  <a:lnTo>
                    <a:pt x="35979" y="67688"/>
                  </a:lnTo>
                  <a:lnTo>
                    <a:pt x="13207" y="107092"/>
                  </a:lnTo>
                  <a:lnTo>
                    <a:pt x="1478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1462" y="196287"/>
                  </a:lnTo>
                  <a:lnTo>
                    <a:pt x="1472" y="196443"/>
                  </a:lnTo>
                  <a:lnTo>
                    <a:pt x="13002" y="239935"/>
                  </a:lnTo>
                  <a:lnTo>
                    <a:pt x="35520" y="279344"/>
                  </a:lnTo>
                  <a:lnTo>
                    <a:pt x="67688" y="311410"/>
                  </a:lnTo>
                  <a:lnTo>
                    <a:pt x="107092" y="334178"/>
                  </a:lnTo>
                  <a:lnTo>
                    <a:pt x="150745" y="345915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35" y="334028"/>
                  </a:lnTo>
                  <a:lnTo>
                    <a:pt x="1395125" y="311410"/>
                  </a:lnTo>
                  <a:lnTo>
                    <a:pt x="1427053" y="279344"/>
                  </a:lnTo>
                  <a:lnTo>
                    <a:pt x="1449741" y="240096"/>
                  </a:lnTo>
                  <a:lnTo>
                    <a:pt x="1449822" y="239935"/>
                  </a:lnTo>
                  <a:lnTo>
                    <a:pt x="1457111" y="218606"/>
                  </a:lnTo>
                  <a:lnTo>
                    <a:pt x="1461528" y="196443"/>
                  </a:lnTo>
                  <a:lnTo>
                    <a:pt x="1461559" y="196287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09" y="128833"/>
                  </a:lnTo>
                  <a:lnTo>
                    <a:pt x="1439633" y="86753"/>
                  </a:lnTo>
                  <a:lnTo>
                    <a:pt x="1412095" y="50892"/>
                  </a:lnTo>
                  <a:lnTo>
                    <a:pt x="1375918" y="23393"/>
                  </a:lnTo>
                  <a:lnTo>
                    <a:pt x="1334158" y="5891"/>
                  </a:lnTo>
                  <a:lnTo>
                    <a:pt x="1311926" y="1478"/>
                  </a:lnTo>
                  <a:lnTo>
                    <a:pt x="1289151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88809" y="3968978"/>
            <a:ext cx="596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CHITCHAT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3113" y="4359871"/>
            <a:ext cx="2244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Responds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directly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fired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95355" y="3759580"/>
            <a:ext cx="3657600" cy="1572895"/>
            <a:chOff x="4370400" y="3566159"/>
            <a:chExt cx="3657600" cy="1572895"/>
          </a:xfrm>
        </p:grpSpPr>
        <p:sp>
          <p:nvSpPr>
            <p:cNvPr id="35" name="object 35"/>
            <p:cNvSpPr/>
            <p:nvPr/>
          </p:nvSpPr>
          <p:spPr>
            <a:xfrm>
              <a:off x="4370400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804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774" y="1493042"/>
                  </a:lnTo>
                  <a:lnTo>
                    <a:pt x="798" y="1493403"/>
                  </a:lnTo>
                  <a:lnTo>
                    <a:pt x="3077" y="1504710"/>
                  </a:lnTo>
                  <a:lnTo>
                    <a:pt x="3149" y="1505069"/>
                  </a:lnTo>
                  <a:lnTo>
                    <a:pt x="6863" y="1515970"/>
                  </a:lnTo>
                  <a:lnTo>
                    <a:pt x="35676" y="1554000"/>
                  </a:lnTo>
                  <a:lnTo>
                    <a:pt x="79433" y="1572045"/>
                  </a:lnTo>
                  <a:lnTo>
                    <a:pt x="91440" y="1572844"/>
                  </a:lnTo>
                  <a:lnTo>
                    <a:pt x="3566160" y="1572475"/>
                  </a:lnTo>
                  <a:lnTo>
                    <a:pt x="3611879" y="1560245"/>
                  </a:lnTo>
                  <a:lnTo>
                    <a:pt x="3645357" y="1526755"/>
                  </a:lnTo>
                  <a:lnTo>
                    <a:pt x="3656728" y="1493403"/>
                  </a:lnTo>
                  <a:lnTo>
                    <a:pt x="3656801" y="1493042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42"/>
                  </a:lnTo>
                  <a:lnTo>
                    <a:pt x="3577804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07560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39" h="347979">
                  <a:moveTo>
                    <a:pt x="1289164" y="0"/>
                  </a:moveTo>
                  <a:lnTo>
                    <a:pt x="173875" y="0"/>
                  </a:lnTo>
                  <a:lnTo>
                    <a:pt x="151074" y="1478"/>
                  </a:lnTo>
                  <a:lnTo>
                    <a:pt x="107304" y="13056"/>
                  </a:lnTo>
                  <a:lnTo>
                    <a:pt x="67895" y="35624"/>
                  </a:lnTo>
                  <a:lnTo>
                    <a:pt x="35984" y="67688"/>
                  </a:lnTo>
                  <a:lnTo>
                    <a:pt x="13217" y="107092"/>
                  </a:lnTo>
                  <a:lnTo>
                    <a:pt x="1480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5851" y="218606"/>
                  </a:lnTo>
                  <a:lnTo>
                    <a:pt x="23037" y="260642"/>
                  </a:lnTo>
                  <a:lnTo>
                    <a:pt x="35525" y="279344"/>
                  </a:lnTo>
                  <a:lnTo>
                    <a:pt x="35629" y="279500"/>
                  </a:lnTo>
                  <a:lnTo>
                    <a:pt x="67689" y="311410"/>
                  </a:lnTo>
                  <a:lnTo>
                    <a:pt x="107099" y="334178"/>
                  </a:lnTo>
                  <a:lnTo>
                    <a:pt x="150752" y="345915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35" y="334028"/>
                  </a:lnTo>
                  <a:lnTo>
                    <a:pt x="1395130" y="311410"/>
                  </a:lnTo>
                  <a:lnTo>
                    <a:pt x="1427054" y="279344"/>
                  </a:lnTo>
                  <a:lnTo>
                    <a:pt x="1449741" y="240096"/>
                  </a:lnTo>
                  <a:lnTo>
                    <a:pt x="1449822" y="239935"/>
                  </a:lnTo>
                  <a:lnTo>
                    <a:pt x="1457111" y="218606"/>
                  </a:lnTo>
                  <a:lnTo>
                    <a:pt x="1461528" y="196443"/>
                  </a:lnTo>
                  <a:lnTo>
                    <a:pt x="1461559" y="196287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09" y="128833"/>
                  </a:lnTo>
                  <a:lnTo>
                    <a:pt x="1439633" y="86753"/>
                  </a:lnTo>
                  <a:lnTo>
                    <a:pt x="1412100" y="50892"/>
                  </a:lnTo>
                  <a:lnTo>
                    <a:pt x="1375918" y="23393"/>
                  </a:lnTo>
                  <a:lnTo>
                    <a:pt x="1334160" y="5891"/>
                  </a:lnTo>
                  <a:lnTo>
                    <a:pt x="1311931" y="1478"/>
                  </a:lnTo>
                  <a:lnTo>
                    <a:pt x="1289164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18336" y="3927424"/>
            <a:ext cx="9017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CLARIFICATION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72407" y="4353354"/>
            <a:ext cx="2432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Asks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user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more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specific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information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82419" y="3751808"/>
            <a:ext cx="3657600" cy="1572895"/>
            <a:chOff x="8283956" y="3566159"/>
            <a:chExt cx="3657600" cy="1572895"/>
          </a:xfrm>
        </p:grpSpPr>
        <p:sp>
          <p:nvSpPr>
            <p:cNvPr id="40" name="object 40"/>
            <p:cNvSpPr/>
            <p:nvPr/>
          </p:nvSpPr>
          <p:spPr>
            <a:xfrm>
              <a:off x="8283956" y="3566159"/>
              <a:ext cx="3657600" cy="1572895"/>
            </a:xfrm>
            <a:custGeom>
              <a:avLst/>
              <a:gdLst/>
              <a:ahLst/>
              <a:cxnLst/>
              <a:rect l="l" t="t" r="r" b="b"/>
              <a:pathLst>
                <a:path w="3657600" h="1572895">
                  <a:moveTo>
                    <a:pt x="356580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481404"/>
                  </a:lnTo>
                  <a:lnTo>
                    <a:pt x="12242" y="1527124"/>
                  </a:lnTo>
                  <a:lnTo>
                    <a:pt x="45720" y="1560601"/>
                  </a:lnTo>
                  <a:lnTo>
                    <a:pt x="91440" y="1572844"/>
                  </a:lnTo>
                  <a:lnTo>
                    <a:pt x="3566160" y="1572475"/>
                  </a:lnTo>
                  <a:lnTo>
                    <a:pt x="3611879" y="1560245"/>
                  </a:lnTo>
                  <a:lnTo>
                    <a:pt x="3645369" y="1526755"/>
                  </a:lnTo>
                  <a:lnTo>
                    <a:pt x="3656728" y="1493403"/>
                  </a:lnTo>
                  <a:lnTo>
                    <a:pt x="3656801" y="1493042"/>
                  </a:lnTo>
                  <a:lnTo>
                    <a:pt x="3657575" y="1481404"/>
                  </a:lnTo>
                  <a:lnTo>
                    <a:pt x="3657600" y="1481035"/>
                  </a:lnTo>
                  <a:lnTo>
                    <a:pt x="3657244" y="91439"/>
                  </a:lnTo>
                  <a:lnTo>
                    <a:pt x="3645001" y="45719"/>
                  </a:lnTo>
                  <a:lnTo>
                    <a:pt x="3611524" y="12242"/>
                  </a:lnTo>
                  <a:lnTo>
                    <a:pt x="3577809" y="798"/>
                  </a:lnTo>
                  <a:lnTo>
                    <a:pt x="356580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1116" y="3675964"/>
              <a:ext cx="1463040" cy="347980"/>
            </a:xfrm>
            <a:custGeom>
              <a:avLst/>
              <a:gdLst/>
              <a:ahLst/>
              <a:cxnLst/>
              <a:rect l="l" t="t" r="r" b="b"/>
              <a:pathLst>
                <a:path w="1463040" h="347979">
                  <a:moveTo>
                    <a:pt x="1289164" y="0"/>
                  </a:moveTo>
                  <a:lnTo>
                    <a:pt x="173888" y="0"/>
                  </a:lnTo>
                  <a:lnTo>
                    <a:pt x="151080" y="1478"/>
                  </a:lnTo>
                  <a:lnTo>
                    <a:pt x="107310" y="13056"/>
                  </a:lnTo>
                  <a:lnTo>
                    <a:pt x="67906" y="35624"/>
                  </a:lnTo>
                  <a:lnTo>
                    <a:pt x="35986" y="67688"/>
                  </a:lnTo>
                  <a:lnTo>
                    <a:pt x="13217" y="107092"/>
                  </a:lnTo>
                  <a:lnTo>
                    <a:pt x="1480" y="150745"/>
                  </a:lnTo>
                  <a:lnTo>
                    <a:pt x="0" y="173520"/>
                  </a:lnTo>
                  <a:lnTo>
                    <a:pt x="0" y="173875"/>
                  </a:lnTo>
                  <a:lnTo>
                    <a:pt x="5851" y="218606"/>
                  </a:lnTo>
                  <a:lnTo>
                    <a:pt x="23037" y="260642"/>
                  </a:lnTo>
                  <a:lnTo>
                    <a:pt x="50582" y="296502"/>
                  </a:lnTo>
                  <a:lnTo>
                    <a:pt x="86766" y="323989"/>
                  </a:lnTo>
                  <a:lnTo>
                    <a:pt x="128523" y="341498"/>
                  </a:lnTo>
                  <a:lnTo>
                    <a:pt x="173520" y="347395"/>
                  </a:lnTo>
                  <a:lnTo>
                    <a:pt x="1289519" y="347395"/>
                  </a:lnTo>
                  <a:lnTo>
                    <a:pt x="1311349" y="345915"/>
                  </a:lnTo>
                  <a:lnTo>
                    <a:pt x="1311840" y="345915"/>
                  </a:lnTo>
                  <a:lnTo>
                    <a:pt x="1355740" y="334028"/>
                  </a:lnTo>
                  <a:lnTo>
                    <a:pt x="1395135" y="311410"/>
                  </a:lnTo>
                  <a:lnTo>
                    <a:pt x="1427060" y="279344"/>
                  </a:lnTo>
                  <a:lnTo>
                    <a:pt x="1449752" y="240096"/>
                  </a:lnTo>
                  <a:lnTo>
                    <a:pt x="1461530" y="196443"/>
                  </a:lnTo>
                  <a:lnTo>
                    <a:pt x="1463016" y="173875"/>
                  </a:lnTo>
                  <a:lnTo>
                    <a:pt x="1463016" y="173520"/>
                  </a:lnTo>
                  <a:lnTo>
                    <a:pt x="1457010" y="128833"/>
                  </a:lnTo>
                  <a:lnTo>
                    <a:pt x="1439646" y="86753"/>
                  </a:lnTo>
                  <a:lnTo>
                    <a:pt x="1412101" y="50892"/>
                  </a:lnTo>
                  <a:lnTo>
                    <a:pt x="1375917" y="23393"/>
                  </a:lnTo>
                  <a:lnTo>
                    <a:pt x="1334160" y="5891"/>
                  </a:lnTo>
                  <a:lnTo>
                    <a:pt x="1311931" y="1478"/>
                  </a:lnTo>
                  <a:lnTo>
                    <a:pt x="1289164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713114" y="3924489"/>
            <a:ext cx="7632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1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69927" y="4312539"/>
            <a:ext cx="297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Orchestrator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routes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or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both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70133F-7391-ABAF-C660-879F1DF2AC16}"/>
              </a:ext>
            </a:extLst>
          </p:cNvPr>
          <p:cNvSpPr/>
          <p:nvPr/>
        </p:nvSpPr>
        <p:spPr>
          <a:xfrm>
            <a:off x="2169464" y="1066800"/>
            <a:ext cx="5757025" cy="20443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09A556-1703-DF4E-9681-A9226B95C45E}"/>
              </a:ext>
            </a:extLst>
          </p:cNvPr>
          <p:cNvSpPr/>
          <p:nvPr/>
        </p:nvSpPr>
        <p:spPr>
          <a:xfrm>
            <a:off x="7984895" y="1066800"/>
            <a:ext cx="1899261" cy="204433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solidFill>
                <a:srgbClr val="0A0A0A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1FF0A7-D8A5-F617-4204-F4DCCAA20119}"/>
              </a:ext>
            </a:extLst>
          </p:cNvPr>
          <p:cNvSpPr txBox="1"/>
          <p:nvPr/>
        </p:nvSpPr>
        <p:spPr>
          <a:xfrm>
            <a:off x="2762153" y="556792"/>
            <a:ext cx="4571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                                </a:t>
            </a:r>
            <a:r>
              <a:rPr lang="en-IN" sz="1400" b="1" dirty="0"/>
              <a:t>Client side </a:t>
            </a:r>
          </a:p>
          <a:p>
            <a:r>
              <a:rPr lang="en-IN" sz="1400" dirty="0"/>
              <a:t>(Agent could be custom Agent, </a:t>
            </a:r>
            <a:r>
              <a:rPr lang="en-IN" sz="1400" dirty="0" err="1"/>
              <a:t>claude</a:t>
            </a:r>
            <a:r>
              <a:rPr lang="en-IN" sz="1400" dirty="0"/>
              <a:t>/windsurf/cursor)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D342CD-D84E-173C-CD23-D73DB91A13FB}"/>
              </a:ext>
            </a:extLst>
          </p:cNvPr>
          <p:cNvSpPr txBox="1"/>
          <p:nvPr/>
        </p:nvSpPr>
        <p:spPr>
          <a:xfrm>
            <a:off x="8154707" y="546695"/>
            <a:ext cx="1783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   Server  side</a:t>
            </a:r>
          </a:p>
          <a:p>
            <a:r>
              <a:rPr lang="en-IN" sz="1400" dirty="0"/>
              <a:t>     (</a:t>
            </a:r>
            <a:r>
              <a:rPr lang="en-IN" sz="1400" dirty="0" err="1"/>
              <a:t>mcp</a:t>
            </a:r>
            <a:r>
              <a:rPr lang="en-IN" sz="1400" dirty="0"/>
              <a:t> server)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</a:rPr>
              <a:t>Enterprise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Security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0756" y="1005484"/>
            <a:ext cx="3566795" cy="2149475"/>
            <a:chOff x="410756" y="1005484"/>
            <a:chExt cx="3566795" cy="2149475"/>
          </a:xfrm>
        </p:grpSpPr>
        <p:sp>
          <p:nvSpPr>
            <p:cNvPr id="5" name="object 5"/>
            <p:cNvSpPr/>
            <p:nvPr/>
          </p:nvSpPr>
          <p:spPr>
            <a:xfrm>
              <a:off x="41075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39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599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8665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⚙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8300" y="1268895"/>
            <a:ext cx="16992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AST-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00" y="1788020"/>
            <a:ext cx="2933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parsed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into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syntax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tree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INSERT,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UPDATE,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DELETE,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DROP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blocked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parse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time,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by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keywords.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05516" y="1005484"/>
            <a:ext cx="3566795" cy="2149475"/>
            <a:chOff x="4205516" y="1005484"/>
            <a:chExt cx="3566795" cy="2149475"/>
          </a:xfrm>
        </p:grpSpPr>
        <p:sp>
          <p:nvSpPr>
            <p:cNvPr id="11" name="object 11"/>
            <p:cNvSpPr/>
            <p:nvPr/>
          </p:nvSpPr>
          <p:spPr>
            <a:xfrm>
              <a:off x="420551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40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75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604" y="0"/>
                  </a:moveTo>
                  <a:lnTo>
                    <a:pt x="176315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1" y="17927"/>
                  </a:lnTo>
                  <a:lnTo>
                    <a:pt x="268727" y="2014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93424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🔑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3060" y="1268895"/>
            <a:ext cx="13690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Authentication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8060" y="1788020"/>
            <a:ext cx="2915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MCP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request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requires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signed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JWT.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HS256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local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secret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dev,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AWS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KMS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RS256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for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production.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00276" y="1005484"/>
            <a:ext cx="3566795" cy="2149475"/>
            <a:chOff x="8000276" y="1005484"/>
            <a:chExt cx="3566795" cy="2149475"/>
          </a:xfrm>
        </p:grpSpPr>
        <p:sp>
          <p:nvSpPr>
            <p:cNvPr id="17" name="object 17"/>
            <p:cNvSpPr/>
            <p:nvPr/>
          </p:nvSpPr>
          <p:spPr>
            <a:xfrm>
              <a:off x="8000276" y="1005484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40" y="2149195"/>
                  </a:lnTo>
                  <a:lnTo>
                    <a:pt x="3475088" y="2149195"/>
                  </a:lnTo>
                  <a:lnTo>
                    <a:pt x="3520808" y="2136952"/>
                  </a:lnTo>
                  <a:lnTo>
                    <a:pt x="3554285" y="2103475"/>
                  </a:lnTo>
                  <a:lnTo>
                    <a:pt x="3566528" y="2057755"/>
                  </a:lnTo>
                  <a:lnTo>
                    <a:pt x="3566504" y="91439"/>
                  </a:lnTo>
                  <a:lnTo>
                    <a:pt x="3554285" y="46075"/>
                  </a:lnTo>
                  <a:lnTo>
                    <a:pt x="3520808" y="12598"/>
                  </a:lnTo>
                  <a:lnTo>
                    <a:pt x="347508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65515" y="11703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88184" y="1267056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🛡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27820" y="1268895"/>
            <a:ext cx="89026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Redshift</a:t>
            </a: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SSO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42820" y="1788020"/>
            <a:ext cx="2950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actual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user.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Redshift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natively enforces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table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row-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level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permissions.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0756" y="3309835"/>
            <a:ext cx="3566795" cy="2149475"/>
            <a:chOff x="410756" y="3309835"/>
            <a:chExt cx="3566795" cy="2149475"/>
          </a:xfrm>
        </p:grpSpPr>
        <p:sp>
          <p:nvSpPr>
            <p:cNvPr id="23" name="object 23"/>
            <p:cNvSpPr/>
            <p:nvPr/>
          </p:nvSpPr>
          <p:spPr>
            <a:xfrm>
              <a:off x="41075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39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99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8665" y="3571407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📋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300" y="3573259"/>
            <a:ext cx="10077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3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3300" y="4092371"/>
            <a:ext cx="2817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call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LangSmith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session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ID,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used,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termination reason.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05516" y="3309835"/>
            <a:ext cx="3566795" cy="2149475"/>
            <a:chOff x="4205516" y="3309835"/>
            <a:chExt cx="3566795" cy="2149475"/>
          </a:xfrm>
        </p:grpSpPr>
        <p:sp>
          <p:nvSpPr>
            <p:cNvPr id="29" name="object 29"/>
            <p:cNvSpPr/>
            <p:nvPr/>
          </p:nvSpPr>
          <p:spPr>
            <a:xfrm>
              <a:off x="420551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40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075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93424" y="3571407"/>
            <a:ext cx="252729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235" dirty="0">
                <a:solidFill>
                  <a:srgbClr val="0C1A29"/>
                </a:solidFill>
                <a:latin typeface="MingLiU_HKSCS-ExtB"/>
                <a:cs typeface="MingLiU_HKSCS-ExtB"/>
              </a:rPr>
              <a:t>🔒</a:t>
            </a:r>
            <a:endParaRPr sz="1500">
              <a:latin typeface="MingLiU_HKSCS-ExtB"/>
              <a:cs typeface="MingLiU_HKSCS-ExtB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33060" y="3573259"/>
            <a:ext cx="11633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3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Isolation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8060" y="4092371"/>
            <a:ext cx="2948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conversation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gets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its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own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isolated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DuckDB sandbox.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Temp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wiped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automatically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on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session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end.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00276" y="3309835"/>
            <a:ext cx="3566795" cy="2149475"/>
            <a:chOff x="8000276" y="3309835"/>
            <a:chExt cx="3566795" cy="2149475"/>
          </a:xfrm>
        </p:grpSpPr>
        <p:sp>
          <p:nvSpPr>
            <p:cNvPr id="35" name="object 35"/>
            <p:cNvSpPr/>
            <p:nvPr/>
          </p:nvSpPr>
          <p:spPr>
            <a:xfrm>
              <a:off x="8000276" y="3309835"/>
              <a:ext cx="3566795" cy="2149475"/>
            </a:xfrm>
            <a:custGeom>
              <a:avLst/>
              <a:gdLst/>
              <a:ahLst/>
              <a:cxnLst/>
              <a:rect l="l" t="t" r="r" b="b"/>
              <a:pathLst>
                <a:path w="3566795" h="2149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68"/>
                  </a:lnTo>
                  <a:lnTo>
                    <a:pt x="798" y="2069768"/>
                  </a:lnTo>
                  <a:lnTo>
                    <a:pt x="18843" y="2113525"/>
                  </a:lnTo>
                  <a:lnTo>
                    <a:pt x="56512" y="2142221"/>
                  </a:lnTo>
                  <a:lnTo>
                    <a:pt x="91440" y="2149208"/>
                  </a:lnTo>
                  <a:lnTo>
                    <a:pt x="3475088" y="2149208"/>
                  </a:lnTo>
                  <a:lnTo>
                    <a:pt x="3520808" y="2136965"/>
                  </a:lnTo>
                  <a:lnTo>
                    <a:pt x="3554285" y="2103488"/>
                  </a:lnTo>
                  <a:lnTo>
                    <a:pt x="3566528" y="2057768"/>
                  </a:lnTo>
                  <a:lnTo>
                    <a:pt x="3566503" y="91439"/>
                  </a:lnTo>
                  <a:lnTo>
                    <a:pt x="3554285" y="46088"/>
                  </a:lnTo>
                  <a:lnTo>
                    <a:pt x="3520808" y="12598"/>
                  </a:lnTo>
                  <a:lnTo>
                    <a:pt x="34750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65515" y="34747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321662" y="3600615"/>
            <a:ext cx="1644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0C1A29"/>
                </a:solidFill>
                <a:latin typeface="Segoe UI Emoji"/>
                <a:cs typeface="Segoe UI Emoji"/>
              </a:rPr>
              <a:t>✓</a:t>
            </a:r>
            <a:endParaRPr sz="1300">
              <a:latin typeface="Segoe UI Emoji"/>
              <a:cs typeface="Segoe UI Emoj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27820" y="3573259"/>
            <a:ext cx="12763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Structured Output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42820" y="4092371"/>
            <a:ext cx="3017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LLM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forced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return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Pydantic-validated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schema.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No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prompt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injection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via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malformed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JSON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possible.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Technical</a:t>
            </a:r>
            <a:r>
              <a:rPr spc="-114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005839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6"/>
                </a:lnTo>
                <a:lnTo>
                  <a:pt x="607" y="649558"/>
                </a:lnTo>
                <a:lnTo>
                  <a:pt x="2393" y="658753"/>
                </a:lnTo>
                <a:lnTo>
                  <a:pt x="2428" y="658936"/>
                </a:lnTo>
                <a:lnTo>
                  <a:pt x="5410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701"/>
                </a:lnTo>
                <a:lnTo>
                  <a:pt x="6855508" y="658936"/>
                </a:lnTo>
                <a:lnTo>
                  <a:pt x="6855569" y="658753"/>
                </a:lnTo>
                <a:lnTo>
                  <a:pt x="6857353" y="649558"/>
                </a:lnTo>
                <a:lnTo>
                  <a:pt x="6857392" y="649356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75"/>
                </a:lnTo>
                <a:lnTo>
                  <a:pt x="6842540" y="28705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1296" y="1116253"/>
            <a:ext cx="761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Client 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78315" y="111564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5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47060" y="1256309"/>
            <a:ext cx="2920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Responder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7023" y="1701266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1847164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640079"/>
                </a:lnTo>
                <a:lnTo>
                  <a:pt x="594" y="649351"/>
                </a:lnTo>
                <a:lnTo>
                  <a:pt x="607" y="649556"/>
                </a:lnTo>
                <a:lnTo>
                  <a:pt x="2394" y="658752"/>
                </a:lnTo>
                <a:lnTo>
                  <a:pt x="2428" y="658931"/>
                </a:lnTo>
                <a:lnTo>
                  <a:pt x="5412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696"/>
                </a:lnTo>
                <a:lnTo>
                  <a:pt x="6852452" y="667970"/>
                </a:lnTo>
                <a:lnTo>
                  <a:pt x="6852529" y="667815"/>
                </a:lnTo>
                <a:lnTo>
                  <a:pt x="6857976" y="640079"/>
                </a:lnTo>
                <a:lnTo>
                  <a:pt x="6858000" y="639711"/>
                </a:lnTo>
                <a:lnTo>
                  <a:pt x="6857631" y="73075"/>
                </a:lnTo>
                <a:lnTo>
                  <a:pt x="6842540" y="28698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296" y="1957578"/>
            <a:ext cx="705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78315" y="1956955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208"/>
                </a:lnTo>
                <a:lnTo>
                  <a:pt x="13677" y="475208"/>
                </a:lnTo>
                <a:lnTo>
                  <a:pt x="27000" y="475208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47060" y="2097620"/>
            <a:ext cx="2948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Handler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KMS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RS256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(prod)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HS256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(dev)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17023" y="2542578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844" y="2688475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7" y="21470"/>
                </a:lnTo>
                <a:lnTo>
                  <a:pt x="607" y="63449"/>
                </a:lnTo>
                <a:lnTo>
                  <a:pt x="0" y="73088"/>
                </a:lnTo>
                <a:lnTo>
                  <a:pt x="0" y="640080"/>
                </a:lnTo>
                <a:lnTo>
                  <a:pt x="5412" y="667820"/>
                </a:lnTo>
                <a:lnTo>
                  <a:pt x="5464" y="667976"/>
                </a:lnTo>
                <a:lnTo>
                  <a:pt x="36360" y="703440"/>
                </a:lnTo>
                <a:lnTo>
                  <a:pt x="73075" y="713168"/>
                </a:lnTo>
                <a:lnTo>
                  <a:pt x="6784911" y="712800"/>
                </a:lnTo>
                <a:lnTo>
                  <a:pt x="6829289" y="697708"/>
                </a:lnTo>
                <a:lnTo>
                  <a:pt x="6852452" y="667976"/>
                </a:lnTo>
                <a:lnTo>
                  <a:pt x="6852529" y="667820"/>
                </a:lnTo>
                <a:lnTo>
                  <a:pt x="6855509" y="658936"/>
                </a:lnTo>
                <a:lnTo>
                  <a:pt x="6855569" y="658758"/>
                </a:lnTo>
                <a:lnTo>
                  <a:pt x="6857353" y="649558"/>
                </a:lnTo>
                <a:lnTo>
                  <a:pt x="6857392" y="649358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88"/>
                </a:lnTo>
                <a:lnTo>
                  <a:pt x="6842540" y="28710"/>
                </a:lnTo>
                <a:lnTo>
                  <a:pt x="6803590" y="2430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5D5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296" y="2798889"/>
            <a:ext cx="758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MCP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78315" y="279792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47060" y="2938945"/>
            <a:ext cx="2873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Streamable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Registry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7023" y="3383902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6844" y="3529444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1"/>
                </a:lnTo>
                <a:lnTo>
                  <a:pt x="607" y="649556"/>
                </a:lnTo>
                <a:lnTo>
                  <a:pt x="2394" y="658752"/>
                </a:lnTo>
                <a:lnTo>
                  <a:pt x="2428" y="658931"/>
                </a:lnTo>
                <a:lnTo>
                  <a:pt x="5412" y="667815"/>
                </a:lnTo>
                <a:lnTo>
                  <a:pt x="36360" y="703440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696"/>
                </a:lnTo>
                <a:lnTo>
                  <a:pt x="6852452" y="667970"/>
                </a:lnTo>
                <a:lnTo>
                  <a:pt x="6852529" y="667815"/>
                </a:lnTo>
                <a:lnTo>
                  <a:pt x="6857976" y="640080"/>
                </a:lnTo>
                <a:lnTo>
                  <a:pt x="6858000" y="639711"/>
                </a:lnTo>
                <a:lnTo>
                  <a:pt x="6857631" y="73075"/>
                </a:lnTo>
                <a:lnTo>
                  <a:pt x="6842540" y="28698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009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1296" y="3640213"/>
            <a:ext cx="671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78315" y="3639235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208"/>
                </a:lnTo>
                <a:lnTo>
                  <a:pt x="13677" y="475208"/>
                </a:lnTo>
                <a:lnTo>
                  <a:pt x="27000" y="475208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47060" y="3780269"/>
            <a:ext cx="3526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Inspector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Temp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Loader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Temp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17023" y="4225226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6844" y="4370755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7" y="21470"/>
                </a:lnTo>
                <a:lnTo>
                  <a:pt x="607" y="63449"/>
                </a:lnTo>
                <a:lnTo>
                  <a:pt x="0" y="73088"/>
                </a:lnTo>
                <a:lnTo>
                  <a:pt x="0" y="640080"/>
                </a:lnTo>
                <a:lnTo>
                  <a:pt x="594" y="649358"/>
                </a:lnTo>
                <a:lnTo>
                  <a:pt x="607" y="649558"/>
                </a:lnTo>
                <a:lnTo>
                  <a:pt x="2394" y="658758"/>
                </a:lnTo>
                <a:lnTo>
                  <a:pt x="2428" y="658936"/>
                </a:lnTo>
                <a:lnTo>
                  <a:pt x="5412" y="667820"/>
                </a:lnTo>
                <a:lnTo>
                  <a:pt x="5464" y="667976"/>
                </a:lnTo>
                <a:lnTo>
                  <a:pt x="9715" y="676440"/>
                </a:lnTo>
                <a:lnTo>
                  <a:pt x="44979" y="707698"/>
                </a:lnTo>
                <a:lnTo>
                  <a:pt x="73075" y="713168"/>
                </a:lnTo>
                <a:lnTo>
                  <a:pt x="6784911" y="712800"/>
                </a:lnTo>
                <a:lnTo>
                  <a:pt x="6829289" y="697708"/>
                </a:lnTo>
                <a:lnTo>
                  <a:pt x="6855509" y="658936"/>
                </a:lnTo>
                <a:lnTo>
                  <a:pt x="6857353" y="649558"/>
                </a:lnTo>
                <a:lnTo>
                  <a:pt x="6857392" y="649358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88"/>
                </a:lnTo>
                <a:lnTo>
                  <a:pt x="6842540" y="28710"/>
                </a:lnTo>
                <a:lnTo>
                  <a:pt x="6803590" y="2430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FF9E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71296" y="4481537"/>
            <a:ext cx="705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78315" y="4480559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47060" y="4621225"/>
            <a:ext cx="3698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Indexer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Reranker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Citation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Tracker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17023" y="5066538"/>
            <a:ext cx="1149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192D41"/>
                </a:solidFill>
                <a:latin typeface="Calibri"/>
                <a:cs typeface="Calibri"/>
              </a:rPr>
              <a:t>↕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6844" y="5212079"/>
            <a:ext cx="6858000" cy="713740"/>
          </a:xfrm>
          <a:custGeom>
            <a:avLst/>
            <a:gdLst/>
            <a:ahLst/>
            <a:cxnLst/>
            <a:rect l="l" t="t" r="r" b="b"/>
            <a:pathLst>
              <a:path w="6858000" h="713739">
                <a:moveTo>
                  <a:pt x="67845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640080"/>
                </a:lnTo>
                <a:lnTo>
                  <a:pt x="594" y="649356"/>
                </a:lnTo>
                <a:lnTo>
                  <a:pt x="607" y="649558"/>
                </a:lnTo>
                <a:lnTo>
                  <a:pt x="21413" y="691697"/>
                </a:lnTo>
                <a:lnTo>
                  <a:pt x="63442" y="712548"/>
                </a:lnTo>
                <a:lnTo>
                  <a:pt x="73075" y="713155"/>
                </a:lnTo>
                <a:lnTo>
                  <a:pt x="6784911" y="712800"/>
                </a:lnTo>
                <a:lnTo>
                  <a:pt x="6829289" y="697701"/>
                </a:lnTo>
                <a:lnTo>
                  <a:pt x="6852450" y="667976"/>
                </a:lnTo>
                <a:lnTo>
                  <a:pt x="6852529" y="667815"/>
                </a:lnTo>
                <a:lnTo>
                  <a:pt x="6855508" y="658936"/>
                </a:lnTo>
                <a:lnTo>
                  <a:pt x="6855569" y="658753"/>
                </a:lnTo>
                <a:lnTo>
                  <a:pt x="6857353" y="649558"/>
                </a:lnTo>
                <a:lnTo>
                  <a:pt x="6857392" y="649356"/>
                </a:lnTo>
                <a:lnTo>
                  <a:pt x="6857977" y="640080"/>
                </a:lnTo>
                <a:lnTo>
                  <a:pt x="6858000" y="639724"/>
                </a:lnTo>
                <a:lnTo>
                  <a:pt x="6857631" y="73075"/>
                </a:lnTo>
                <a:lnTo>
                  <a:pt x="6842540" y="28705"/>
                </a:lnTo>
                <a:lnTo>
                  <a:pt x="6803590" y="2428"/>
                </a:lnTo>
                <a:lnTo>
                  <a:pt x="6794189" y="607"/>
                </a:lnTo>
                <a:lnTo>
                  <a:pt x="6784555" y="0"/>
                </a:lnTo>
                <a:close/>
              </a:path>
            </a:pathLst>
          </a:custGeom>
          <a:solidFill>
            <a:srgbClr val="192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71296" y="5322493"/>
            <a:ext cx="688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78315" y="5321884"/>
            <a:ext cx="27305" cy="475615"/>
          </a:xfrm>
          <a:custGeom>
            <a:avLst/>
            <a:gdLst/>
            <a:ahLst/>
            <a:cxnLst/>
            <a:rect l="l" t="t" r="r" b="b"/>
            <a:pathLst>
              <a:path w="27305" h="475614">
                <a:moveTo>
                  <a:pt x="27000" y="0"/>
                </a:moveTo>
                <a:lnTo>
                  <a:pt x="0" y="0"/>
                </a:lnTo>
                <a:lnTo>
                  <a:pt x="0" y="475195"/>
                </a:lnTo>
                <a:lnTo>
                  <a:pt x="13677" y="475195"/>
                </a:lnTo>
                <a:lnTo>
                  <a:pt x="27000" y="475195"/>
                </a:lnTo>
                <a:lnTo>
                  <a:pt x="2700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747060" y="5462549"/>
            <a:ext cx="35661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AST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Validators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Guard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DuckDB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Redshift Runner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634884" y="1005484"/>
            <a:ext cx="4069715" cy="5166995"/>
          </a:xfrm>
          <a:custGeom>
            <a:avLst/>
            <a:gdLst/>
            <a:ahLst/>
            <a:cxnLst/>
            <a:rect l="l" t="t" r="r" b="b"/>
            <a:pathLst>
              <a:path w="4069715" h="516699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075275"/>
                </a:lnTo>
                <a:lnTo>
                  <a:pt x="798" y="5087280"/>
                </a:lnTo>
                <a:lnTo>
                  <a:pt x="18830" y="5131039"/>
                </a:lnTo>
                <a:lnTo>
                  <a:pt x="56505" y="5159729"/>
                </a:lnTo>
                <a:lnTo>
                  <a:pt x="91439" y="5166715"/>
                </a:lnTo>
                <a:lnTo>
                  <a:pt x="3977995" y="5166715"/>
                </a:lnTo>
                <a:lnTo>
                  <a:pt x="4023715" y="5154472"/>
                </a:lnTo>
                <a:lnTo>
                  <a:pt x="4057192" y="5120995"/>
                </a:lnTo>
                <a:lnTo>
                  <a:pt x="4069435" y="5075275"/>
                </a:lnTo>
                <a:lnTo>
                  <a:pt x="4069411" y="91439"/>
                </a:lnTo>
                <a:lnTo>
                  <a:pt x="4057192" y="46075"/>
                </a:lnTo>
                <a:lnTo>
                  <a:pt x="4023715" y="12598"/>
                </a:lnTo>
                <a:lnTo>
                  <a:pt x="397799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95425" y="1178547"/>
            <a:ext cx="1359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Dev</a:t>
            </a:r>
            <a:r>
              <a:rPr sz="14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vs</a:t>
            </a:r>
            <a:r>
              <a:rPr sz="1400" b="1" spc="-1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B3D7"/>
                </a:solidFill>
                <a:latin typeface="Calibri"/>
                <a:cs typeface="Calibri"/>
              </a:rPr>
              <a:t>Production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67701" y="1620621"/>
            <a:ext cx="424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8EA2B0"/>
                </a:solidFill>
                <a:latin typeface="Calibri"/>
                <a:cs typeface="Calibri"/>
              </a:rPr>
              <a:t>Feature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24504" y="1620621"/>
            <a:ext cx="2279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00B3D7"/>
                </a:solidFill>
                <a:latin typeface="Calibri"/>
                <a:cs typeface="Calibri"/>
              </a:rPr>
              <a:t>Dev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45178" y="1620621"/>
            <a:ext cx="2717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05D59F"/>
                </a:solidFill>
                <a:latin typeface="Calibri"/>
                <a:cs typeface="Calibri"/>
              </a:rPr>
              <a:t>Prod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99323" y="1883155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30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67701" y="2015540"/>
            <a:ext cx="708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58465" y="2015540"/>
            <a:ext cx="756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CSV+DuckDB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36466" y="2015540"/>
            <a:ext cx="487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Redshift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67701" y="2536824"/>
            <a:ext cx="737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Auth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Signing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42780" y="2536824"/>
            <a:ext cx="389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HS256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47896" y="2536824"/>
            <a:ext cx="6648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5D59F"/>
                </a:solidFill>
                <a:latin typeface="Calibri"/>
                <a:cs typeface="Calibri"/>
              </a:rPr>
              <a:t>KMS</a:t>
            </a: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 RS256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99323" y="2925724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867701" y="3058109"/>
            <a:ext cx="701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Permissions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406343" y="3058109"/>
            <a:ext cx="6604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B3D7"/>
                </a:solidFill>
                <a:latin typeface="Calibri"/>
                <a:cs typeface="Calibri"/>
              </a:rPr>
              <a:t>Path</a:t>
            </a:r>
            <a:r>
              <a:rPr sz="11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Guard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509745" y="3058109"/>
            <a:ext cx="740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Redshift</a:t>
            </a:r>
            <a:r>
              <a:rPr sz="110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5D59F"/>
                </a:solidFill>
                <a:latin typeface="Calibri"/>
                <a:cs typeface="Calibri"/>
              </a:rPr>
              <a:t>SSO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67701" y="3579025"/>
            <a:ext cx="6083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66261" y="357902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809261" y="357902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699323" y="3968280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867701" y="4100309"/>
            <a:ext cx="635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1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666261" y="4100309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809261" y="4100309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67701" y="4621580"/>
            <a:ext cx="581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AST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Valid.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666261" y="4621580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09261" y="4621580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699323" y="5010480"/>
            <a:ext cx="3913504" cy="494030"/>
          </a:xfrm>
          <a:custGeom>
            <a:avLst/>
            <a:gdLst/>
            <a:ahLst/>
            <a:cxnLst/>
            <a:rect l="l" t="t" r="r" b="b"/>
            <a:pathLst>
              <a:path w="3913504" h="494029">
                <a:moveTo>
                  <a:pt x="3913200" y="0"/>
                </a:moveTo>
                <a:lnTo>
                  <a:pt x="0" y="0"/>
                </a:lnTo>
                <a:lnTo>
                  <a:pt x="0" y="493560"/>
                </a:lnTo>
                <a:lnTo>
                  <a:pt x="1956600" y="493560"/>
                </a:lnTo>
                <a:lnTo>
                  <a:pt x="3913200" y="493560"/>
                </a:lnTo>
                <a:lnTo>
                  <a:pt x="3913200" y="0"/>
                </a:lnTo>
                <a:close/>
              </a:path>
            </a:pathLst>
          </a:custGeom>
          <a:solidFill>
            <a:srgbClr val="1A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867701" y="5142865"/>
            <a:ext cx="6197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LangSmith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66261" y="514286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0B3D7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809261" y="5142865"/>
            <a:ext cx="142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solidFill>
                  <a:srgbClr val="05D59F"/>
                </a:solidFill>
                <a:latin typeface="Segoe UI Emoji"/>
                <a:cs typeface="Segoe UI Emoji"/>
              </a:rPr>
              <a:t>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67701" y="5664149"/>
            <a:ext cx="39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Switch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68256" y="5664149"/>
            <a:ext cx="5384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0B3D7"/>
                </a:solidFill>
                <a:latin typeface="Calibri"/>
                <a:cs typeface="Calibri"/>
              </a:rPr>
              <a:t>ENV=dev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579937" y="5664149"/>
            <a:ext cx="6000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5D59F"/>
                </a:solidFill>
                <a:latin typeface="Calibri"/>
                <a:cs typeface="Calibri"/>
              </a:rPr>
              <a:t>ENV=prod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Agent</a:t>
            </a:r>
            <a:r>
              <a:rPr spc="-1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005484"/>
            <a:ext cx="5395595" cy="5258435"/>
          </a:xfrm>
          <a:custGeom>
            <a:avLst/>
            <a:gdLst/>
            <a:ahLst/>
            <a:cxnLst/>
            <a:rect l="l" t="t" r="r" b="b"/>
            <a:pathLst>
              <a:path w="5395595" h="5258435">
                <a:moveTo>
                  <a:pt x="91808" y="0"/>
                </a:moveTo>
                <a:lnTo>
                  <a:pt x="46088" y="12230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43" y="5222479"/>
                </a:lnTo>
                <a:lnTo>
                  <a:pt x="56512" y="5251169"/>
                </a:lnTo>
                <a:lnTo>
                  <a:pt x="91440" y="5258155"/>
                </a:lnTo>
                <a:lnTo>
                  <a:pt x="5303888" y="5258155"/>
                </a:lnTo>
                <a:lnTo>
                  <a:pt x="5349608" y="5245912"/>
                </a:lnTo>
                <a:lnTo>
                  <a:pt x="5383085" y="5212435"/>
                </a:lnTo>
                <a:lnTo>
                  <a:pt x="5395328" y="5166715"/>
                </a:lnTo>
                <a:lnTo>
                  <a:pt x="5395304" y="91439"/>
                </a:lnTo>
                <a:lnTo>
                  <a:pt x="5383085" y="46075"/>
                </a:lnTo>
                <a:lnTo>
                  <a:pt x="5349608" y="12598"/>
                </a:lnTo>
                <a:lnTo>
                  <a:pt x="5303888" y="355"/>
                </a:lnTo>
                <a:lnTo>
                  <a:pt x="91808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7016" y="1177455"/>
            <a:ext cx="12268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Live</a:t>
            </a:r>
            <a:r>
              <a:rPr sz="1300" b="1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Conversation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384" y="1654111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0185" y="1575149"/>
            <a:ext cx="149479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hi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CHITCHAT</a:t>
            </a:r>
            <a:r>
              <a:rPr sz="95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responds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directly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384" y="2175382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0185" y="2175382"/>
            <a:ext cx="1893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Hello!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today?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384" y="2696667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0185" y="2617704"/>
            <a:ext cx="193675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30" dirty="0">
                <a:solidFill>
                  <a:srgbClr val="8EA2B0"/>
                </a:solidFill>
                <a:latin typeface="Calibri"/>
                <a:cs typeface="Calibri"/>
              </a:rPr>
              <a:t>DATA_QUERY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SQL 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7384" y="3217951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0185" y="3217951"/>
            <a:ext cx="2379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are: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Acme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($2.4M)...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384" y="3738867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0185" y="3659904"/>
            <a:ext cx="1458595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summarise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Q3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report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30" dirty="0">
                <a:solidFill>
                  <a:srgbClr val="8EA2B0"/>
                </a:solidFill>
                <a:latin typeface="Calibri"/>
                <a:cs typeface="Calibri"/>
              </a:rPr>
              <a:t>DATA_QUERY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950" i="1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2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384" y="4260151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0185" y="4260151"/>
            <a:ext cx="2280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Q3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highlights: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Revenue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12%...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384" y="4781423"/>
            <a:ext cx="275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B3D7"/>
                </a:solidFill>
                <a:latin typeface="Calibri"/>
                <a:cs typeface="Calibri"/>
              </a:rPr>
              <a:t>You: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0185" y="4702445"/>
            <a:ext cx="1524000" cy="4851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great</a:t>
            </a:r>
            <a:r>
              <a:rPr sz="1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thanks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POSITIVE_FEEDBACK</a:t>
            </a:r>
            <a:r>
              <a:rPr sz="950" i="1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950" i="1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384" y="5302707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Bot: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0185" y="5302707"/>
            <a:ext cx="10210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Glad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helped!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5755" y="1005484"/>
            <a:ext cx="5578475" cy="5258435"/>
          </a:xfrm>
          <a:custGeom>
            <a:avLst/>
            <a:gdLst/>
            <a:ahLst/>
            <a:cxnLst/>
            <a:rect l="l" t="t" r="r" b="b"/>
            <a:pathLst>
              <a:path w="5578475" h="5258435">
                <a:moveTo>
                  <a:pt x="91808" y="0"/>
                </a:moveTo>
                <a:lnTo>
                  <a:pt x="46088" y="12230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43" y="5222479"/>
                </a:lnTo>
                <a:lnTo>
                  <a:pt x="56512" y="5251169"/>
                </a:lnTo>
                <a:lnTo>
                  <a:pt x="91439" y="5258155"/>
                </a:lnTo>
                <a:lnTo>
                  <a:pt x="5486768" y="5258155"/>
                </a:lnTo>
                <a:lnTo>
                  <a:pt x="5532488" y="5245912"/>
                </a:lnTo>
                <a:lnTo>
                  <a:pt x="5565965" y="5212435"/>
                </a:lnTo>
                <a:lnTo>
                  <a:pt x="5578208" y="5166715"/>
                </a:lnTo>
                <a:lnTo>
                  <a:pt x="5578184" y="91439"/>
                </a:lnTo>
                <a:lnTo>
                  <a:pt x="5565965" y="46075"/>
                </a:lnTo>
                <a:lnTo>
                  <a:pt x="5532488" y="12598"/>
                </a:lnTo>
                <a:lnTo>
                  <a:pt x="5486768" y="355"/>
                </a:lnTo>
                <a:lnTo>
                  <a:pt x="91808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86296" y="1177455"/>
            <a:ext cx="13373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Agent</a:t>
            </a:r>
            <a:r>
              <a:rPr sz="1300" b="1" spc="-4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Step-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by-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Step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02654" y="1621205"/>
            <a:ext cx="5224780" cy="972819"/>
            <a:chOff x="6302654" y="1621205"/>
            <a:chExt cx="5224780" cy="972819"/>
          </a:xfrm>
        </p:grpSpPr>
        <p:sp>
          <p:nvSpPr>
            <p:cNvPr id="25" name="object 25"/>
            <p:cNvSpPr/>
            <p:nvPr/>
          </p:nvSpPr>
          <p:spPr>
            <a:xfrm>
              <a:off x="6309004" y="162755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19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5" y="891994"/>
                  </a:lnTo>
                  <a:lnTo>
                    <a:pt x="3148" y="892354"/>
                  </a:lnTo>
                  <a:lnTo>
                    <a:pt x="26679" y="933440"/>
                  </a:lnTo>
                  <a:lnTo>
                    <a:pt x="67765" y="956971"/>
                  </a:lnTo>
                  <a:lnTo>
                    <a:pt x="91439" y="960120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54"/>
                  </a:lnTo>
                  <a:lnTo>
                    <a:pt x="5208925" y="891994"/>
                  </a:lnTo>
                  <a:lnTo>
                    <a:pt x="5211207" y="880686"/>
                  </a:lnTo>
                  <a:lnTo>
                    <a:pt x="5211279" y="880329"/>
                  </a:lnTo>
                  <a:lnTo>
                    <a:pt x="5212056" y="868679"/>
                  </a:lnTo>
                  <a:lnTo>
                    <a:pt x="5211711" y="91439"/>
                  </a:lnTo>
                  <a:lnTo>
                    <a:pt x="5199481" y="45720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0B3D7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9004" y="162755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19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20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9"/>
                  </a:lnTo>
                  <a:lnTo>
                    <a:pt x="5208925" y="891994"/>
                  </a:lnTo>
                  <a:lnTo>
                    <a:pt x="5185389" y="933078"/>
                  </a:lnTo>
                  <a:lnTo>
                    <a:pt x="5144304" y="956614"/>
                  </a:lnTo>
                  <a:lnTo>
                    <a:pt x="91439" y="960120"/>
                  </a:lnTo>
                  <a:lnTo>
                    <a:pt x="45720" y="947889"/>
                  </a:lnTo>
                  <a:lnTo>
                    <a:pt x="12230" y="914400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B3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55080" y="170064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3"/>
                  </a:lnTo>
                  <a:lnTo>
                    <a:pt x="146882" y="457329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29"/>
                  </a:lnTo>
                  <a:lnTo>
                    <a:pt x="382621" y="426203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32740" y="1856778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08380" y="1761020"/>
            <a:ext cx="1951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8380" y="2198420"/>
            <a:ext cx="21863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Schema: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sales</a:t>
            </a:r>
            <a:r>
              <a:rPr sz="11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→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customers,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orders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02654" y="2736850"/>
            <a:ext cx="5224780" cy="972819"/>
            <a:chOff x="6302654" y="2736850"/>
            <a:chExt cx="5224780" cy="972819"/>
          </a:xfrm>
        </p:grpSpPr>
        <p:sp>
          <p:nvSpPr>
            <p:cNvPr id="32" name="object 32"/>
            <p:cNvSpPr/>
            <p:nvPr/>
          </p:nvSpPr>
          <p:spPr>
            <a:xfrm>
              <a:off x="6309004" y="2743200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24"/>
                  </a:lnTo>
                  <a:lnTo>
                    <a:pt x="798" y="880685"/>
                  </a:lnTo>
                  <a:lnTo>
                    <a:pt x="3075" y="891989"/>
                  </a:lnTo>
                  <a:lnTo>
                    <a:pt x="3148" y="892349"/>
                  </a:lnTo>
                  <a:lnTo>
                    <a:pt x="6859" y="903251"/>
                  </a:lnTo>
                  <a:lnTo>
                    <a:pt x="6981" y="903609"/>
                  </a:lnTo>
                  <a:lnTo>
                    <a:pt x="12230" y="914400"/>
                  </a:lnTo>
                  <a:lnTo>
                    <a:pt x="45720" y="947877"/>
                  </a:lnTo>
                  <a:lnTo>
                    <a:pt x="91439" y="960119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49"/>
                  </a:lnTo>
                  <a:lnTo>
                    <a:pt x="5208925" y="891989"/>
                  </a:lnTo>
                  <a:lnTo>
                    <a:pt x="5211206" y="880685"/>
                  </a:lnTo>
                  <a:lnTo>
                    <a:pt x="5211279" y="880324"/>
                  </a:lnTo>
                  <a:lnTo>
                    <a:pt x="5212056" y="868680"/>
                  </a:lnTo>
                  <a:lnTo>
                    <a:pt x="5212080" y="868324"/>
                  </a:lnTo>
                  <a:lnTo>
                    <a:pt x="5211711" y="91439"/>
                  </a:lnTo>
                  <a:lnTo>
                    <a:pt x="5199481" y="45720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5D59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09004" y="2743200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20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4"/>
                  </a:lnTo>
                  <a:lnTo>
                    <a:pt x="5208925" y="891989"/>
                  </a:lnTo>
                  <a:lnTo>
                    <a:pt x="5185389" y="933073"/>
                  </a:lnTo>
                  <a:lnTo>
                    <a:pt x="5144304" y="956610"/>
                  </a:lnTo>
                  <a:lnTo>
                    <a:pt x="91439" y="960119"/>
                  </a:lnTo>
                  <a:lnTo>
                    <a:pt x="45720" y="947877"/>
                  </a:lnTo>
                  <a:lnTo>
                    <a:pt x="12230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55080" y="281627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13"/>
                  </a:lnTo>
                  <a:lnTo>
                    <a:pt x="118795" y="31686"/>
                  </a:lnTo>
                  <a:lnTo>
                    <a:pt x="69572" y="69442"/>
                  </a:lnTo>
                  <a:lnTo>
                    <a:pt x="31673" y="118808"/>
                  </a:lnTo>
                  <a:lnTo>
                    <a:pt x="8145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1" y="328526"/>
                  </a:lnTo>
                  <a:lnTo>
                    <a:pt x="49038" y="382416"/>
                  </a:lnTo>
                  <a:lnTo>
                    <a:pt x="92936" y="426214"/>
                  </a:lnTo>
                  <a:lnTo>
                    <a:pt x="146882" y="457336"/>
                  </a:lnTo>
                  <a:lnTo>
                    <a:pt x="206837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6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86" y="146682"/>
                  </a:lnTo>
                  <a:lnTo>
                    <a:pt x="426519" y="92792"/>
                  </a:lnTo>
                  <a:lnTo>
                    <a:pt x="382621" y="48994"/>
                  </a:lnTo>
                  <a:lnTo>
                    <a:pt x="328676" y="17927"/>
                  </a:lnTo>
                  <a:lnTo>
                    <a:pt x="268875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32740" y="2972422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08380" y="2876651"/>
            <a:ext cx="1485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tool_query_source(sql)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08380" y="3314065"/>
            <a:ext cx="21443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SELECT</a:t>
            </a:r>
            <a:r>
              <a:rPr sz="11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...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FROM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sales.customers...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02654" y="3852494"/>
            <a:ext cx="5224780" cy="972819"/>
            <a:chOff x="6302654" y="3852494"/>
            <a:chExt cx="5224780" cy="972819"/>
          </a:xfrm>
        </p:grpSpPr>
        <p:sp>
          <p:nvSpPr>
            <p:cNvPr id="39" name="object 39"/>
            <p:cNvSpPr/>
            <p:nvPr/>
          </p:nvSpPr>
          <p:spPr>
            <a:xfrm>
              <a:off x="6309004" y="3858844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18"/>
                  </a:lnTo>
                  <a:lnTo>
                    <a:pt x="798" y="880679"/>
                  </a:lnTo>
                  <a:lnTo>
                    <a:pt x="3075" y="891986"/>
                  </a:lnTo>
                  <a:lnTo>
                    <a:pt x="3148" y="892344"/>
                  </a:lnTo>
                  <a:lnTo>
                    <a:pt x="6858" y="903246"/>
                  </a:lnTo>
                  <a:lnTo>
                    <a:pt x="35675" y="941276"/>
                  </a:lnTo>
                  <a:lnTo>
                    <a:pt x="79433" y="959321"/>
                  </a:lnTo>
                  <a:lnTo>
                    <a:pt x="91439" y="960119"/>
                  </a:lnTo>
                  <a:lnTo>
                    <a:pt x="5120640" y="959751"/>
                  </a:lnTo>
                  <a:lnTo>
                    <a:pt x="5166360" y="947521"/>
                  </a:lnTo>
                  <a:lnTo>
                    <a:pt x="5199837" y="914031"/>
                  </a:lnTo>
                  <a:lnTo>
                    <a:pt x="5212055" y="868680"/>
                  </a:lnTo>
                  <a:lnTo>
                    <a:pt x="5212080" y="868311"/>
                  </a:lnTo>
                  <a:lnTo>
                    <a:pt x="5211711" y="91439"/>
                  </a:lnTo>
                  <a:lnTo>
                    <a:pt x="5199481" y="45719"/>
                  </a:lnTo>
                  <a:lnTo>
                    <a:pt x="5165991" y="12230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FF9E1B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09004" y="3858844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30"/>
                  </a:lnTo>
                  <a:lnTo>
                    <a:pt x="5199481" y="45719"/>
                  </a:lnTo>
                  <a:lnTo>
                    <a:pt x="5211711" y="91439"/>
                  </a:lnTo>
                  <a:lnTo>
                    <a:pt x="5212080" y="868311"/>
                  </a:lnTo>
                  <a:lnTo>
                    <a:pt x="5211279" y="880318"/>
                  </a:lnTo>
                  <a:lnTo>
                    <a:pt x="5208925" y="891986"/>
                  </a:lnTo>
                  <a:lnTo>
                    <a:pt x="5185389" y="933072"/>
                  </a:lnTo>
                  <a:lnTo>
                    <a:pt x="5144304" y="956603"/>
                  </a:lnTo>
                  <a:lnTo>
                    <a:pt x="91439" y="960119"/>
                  </a:lnTo>
                  <a:lnTo>
                    <a:pt x="45720" y="947877"/>
                  </a:lnTo>
                  <a:lnTo>
                    <a:pt x="12230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9E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55080" y="393192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34"/>
                  </a:lnTo>
                  <a:lnTo>
                    <a:pt x="31673" y="118795"/>
                  </a:lnTo>
                  <a:lnTo>
                    <a:pt x="8145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1" y="328521"/>
                  </a:lnTo>
                  <a:lnTo>
                    <a:pt x="49038" y="382416"/>
                  </a:lnTo>
                  <a:lnTo>
                    <a:pt x="92936" y="426214"/>
                  </a:lnTo>
                  <a:lnTo>
                    <a:pt x="146882" y="457336"/>
                  </a:lnTo>
                  <a:lnTo>
                    <a:pt x="206837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6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86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432740" y="4088066"/>
            <a:ext cx="320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Step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08380" y="3992295"/>
            <a:ext cx="2002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tool_search_documents(query)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8380" y="4429709"/>
            <a:ext cx="1830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Q3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report:</a:t>
            </a:r>
            <a:r>
              <a:rPr sz="11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revenue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up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12%...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302704" y="4968175"/>
            <a:ext cx="5224780" cy="972819"/>
            <a:chOff x="6302704" y="4968175"/>
            <a:chExt cx="5224780" cy="972819"/>
          </a:xfrm>
        </p:grpSpPr>
        <p:sp>
          <p:nvSpPr>
            <p:cNvPr id="46" name="object 46"/>
            <p:cNvSpPr/>
            <p:nvPr/>
          </p:nvSpPr>
          <p:spPr>
            <a:xfrm>
              <a:off x="6309004" y="497447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5120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5" y="891994"/>
                  </a:lnTo>
                  <a:lnTo>
                    <a:pt x="3148" y="892354"/>
                  </a:lnTo>
                  <a:lnTo>
                    <a:pt x="26679" y="933440"/>
                  </a:lnTo>
                  <a:lnTo>
                    <a:pt x="67765" y="956971"/>
                  </a:lnTo>
                  <a:lnTo>
                    <a:pt x="91439" y="960119"/>
                  </a:lnTo>
                  <a:lnTo>
                    <a:pt x="5120640" y="959764"/>
                  </a:lnTo>
                  <a:lnTo>
                    <a:pt x="5166360" y="947521"/>
                  </a:lnTo>
                  <a:lnTo>
                    <a:pt x="5199837" y="914044"/>
                  </a:lnTo>
                  <a:lnTo>
                    <a:pt x="5208802" y="892354"/>
                  </a:lnTo>
                  <a:lnTo>
                    <a:pt x="5208925" y="891994"/>
                  </a:lnTo>
                  <a:lnTo>
                    <a:pt x="5211207" y="880686"/>
                  </a:lnTo>
                  <a:lnTo>
                    <a:pt x="5211279" y="880329"/>
                  </a:lnTo>
                  <a:lnTo>
                    <a:pt x="5212056" y="868679"/>
                  </a:lnTo>
                  <a:lnTo>
                    <a:pt x="5211711" y="91439"/>
                  </a:lnTo>
                  <a:lnTo>
                    <a:pt x="5199481" y="45719"/>
                  </a:lnTo>
                  <a:lnTo>
                    <a:pt x="5165991" y="12242"/>
                  </a:lnTo>
                  <a:lnTo>
                    <a:pt x="5132278" y="798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0095B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09004" y="4974475"/>
              <a:ext cx="5212080" cy="960119"/>
            </a:xfrm>
            <a:custGeom>
              <a:avLst/>
              <a:gdLst/>
              <a:ahLst/>
              <a:cxnLst/>
              <a:rect l="l" t="t" r="r" b="b"/>
              <a:pathLst>
                <a:path w="5212080" h="960120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5120271" y="0"/>
                  </a:lnTo>
                  <a:lnTo>
                    <a:pt x="5165991" y="12242"/>
                  </a:lnTo>
                  <a:lnTo>
                    <a:pt x="5199481" y="45719"/>
                  </a:lnTo>
                  <a:lnTo>
                    <a:pt x="5211711" y="91439"/>
                  </a:lnTo>
                  <a:lnTo>
                    <a:pt x="5212080" y="868324"/>
                  </a:lnTo>
                  <a:lnTo>
                    <a:pt x="5211279" y="880329"/>
                  </a:lnTo>
                  <a:lnTo>
                    <a:pt x="5208925" y="891994"/>
                  </a:lnTo>
                  <a:lnTo>
                    <a:pt x="5185389" y="933083"/>
                  </a:lnTo>
                  <a:lnTo>
                    <a:pt x="5144304" y="956614"/>
                  </a:lnTo>
                  <a:lnTo>
                    <a:pt x="91439" y="960119"/>
                  </a:lnTo>
                  <a:lnTo>
                    <a:pt x="45720" y="947889"/>
                  </a:lnTo>
                  <a:lnTo>
                    <a:pt x="12230" y="914399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9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55079" y="504756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8"/>
                  </a:lnTo>
                  <a:lnTo>
                    <a:pt x="146882" y="457334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34"/>
                  </a:lnTo>
                  <a:lnTo>
                    <a:pt x="382621" y="426208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9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66941" y="5203697"/>
            <a:ext cx="2520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C1A29"/>
                </a:solidFill>
                <a:latin typeface="Calibri"/>
                <a:cs typeface="Calibri"/>
              </a:rPr>
              <a:t>Final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08380" y="5107571"/>
            <a:ext cx="2365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Orchestrator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synthesises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both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08380" y="5544985"/>
            <a:ext cx="2173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45" dirty="0">
                <a:solidFill>
                  <a:srgbClr val="8EA2B0"/>
                </a:solidFill>
                <a:latin typeface="Calibri"/>
                <a:cs typeface="Calibri"/>
              </a:rPr>
              <a:t>*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Combined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answer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returned</a:t>
            </a:r>
            <a:r>
              <a:rPr sz="11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1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Observability</a:t>
            </a:r>
            <a:r>
              <a:rPr spc="-5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dirty="0"/>
              <a:t>Audit</a:t>
            </a:r>
            <a:r>
              <a:rPr spc="-55" dirty="0"/>
              <a:t> </a:t>
            </a:r>
            <a:r>
              <a:rPr spc="-10" dirty="0"/>
              <a:t>Trail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476" y="1005484"/>
            <a:ext cx="5669648" cy="52581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7016" y="1177455"/>
            <a:ext cx="204088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LangSmith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0B3D7"/>
                </a:solidFill>
                <a:latin typeface="Calibri"/>
                <a:cs typeface="Calibri"/>
              </a:rPr>
              <a:t>Trace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Every</a:t>
            </a:r>
            <a:r>
              <a:rPr sz="1300" b="1" spc="-25" dirty="0">
                <a:solidFill>
                  <a:srgbClr val="00B3D7"/>
                </a:solidFill>
                <a:latin typeface="Calibri"/>
                <a:cs typeface="Calibri"/>
              </a:rPr>
              <a:t> Run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820" y="1772907"/>
            <a:ext cx="12744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Run: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qdataagent-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turn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3779" y="1788375"/>
            <a:ext cx="2806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4020" y="2394623"/>
            <a:ext cx="835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7658" y="2410104"/>
            <a:ext cx="2927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1220" y="3016707"/>
            <a:ext cx="16827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tool_inspect_source_schema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6545" y="3031819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1220" y="3638423"/>
            <a:ext cx="10960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tool_query_source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6545" y="3653535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4020" y="4260151"/>
            <a:ext cx="8629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37658" y="4275620"/>
            <a:ext cx="2927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1220" y="4881867"/>
            <a:ext cx="1396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tool_search_documents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76545" y="4897335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4020" y="5503583"/>
            <a:ext cx="7518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8854" y="5519064"/>
            <a:ext cx="3505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09359" y="1005839"/>
            <a:ext cx="2697480" cy="2395855"/>
            <a:chOff x="6309359" y="1005839"/>
            <a:chExt cx="2697480" cy="2395855"/>
          </a:xfrm>
        </p:grpSpPr>
        <p:sp>
          <p:nvSpPr>
            <p:cNvPr id="22" name="object 22"/>
            <p:cNvSpPr/>
            <p:nvPr/>
          </p:nvSpPr>
          <p:spPr>
            <a:xfrm>
              <a:off x="6309359" y="100583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774" y="2316002"/>
                  </a:lnTo>
                  <a:lnTo>
                    <a:pt x="798" y="2316363"/>
                  </a:lnTo>
                  <a:lnTo>
                    <a:pt x="3077" y="2327670"/>
                  </a:lnTo>
                  <a:lnTo>
                    <a:pt x="3149" y="2328029"/>
                  </a:lnTo>
                  <a:lnTo>
                    <a:pt x="6863" y="2338930"/>
                  </a:lnTo>
                  <a:lnTo>
                    <a:pt x="35676" y="2376960"/>
                  </a:lnTo>
                  <a:lnTo>
                    <a:pt x="79434" y="2395005"/>
                  </a:lnTo>
                  <a:lnTo>
                    <a:pt x="91439" y="2395804"/>
                  </a:lnTo>
                  <a:lnTo>
                    <a:pt x="2606040" y="2395435"/>
                  </a:lnTo>
                  <a:lnTo>
                    <a:pt x="2651760" y="2383205"/>
                  </a:lnTo>
                  <a:lnTo>
                    <a:pt x="2685237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80" y="2303995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3875" y="11887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53783" y="130705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6536" y="1308493"/>
            <a:ext cx="1041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Per-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Logging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50824" y="1815020"/>
            <a:ext cx="2099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Every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turn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with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session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ID,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used,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steps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count,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termination</a:t>
            </a:r>
            <a:r>
              <a:rPr sz="12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reason.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171355" y="1005839"/>
            <a:ext cx="2697480" cy="2395855"/>
            <a:chOff x="9171355" y="1005839"/>
            <a:chExt cx="2697480" cy="2395855"/>
          </a:xfrm>
        </p:grpSpPr>
        <p:sp>
          <p:nvSpPr>
            <p:cNvPr id="28" name="object 28"/>
            <p:cNvSpPr/>
            <p:nvPr/>
          </p:nvSpPr>
          <p:spPr>
            <a:xfrm>
              <a:off x="9171355" y="100583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12242" y="2350084"/>
                  </a:lnTo>
                  <a:lnTo>
                    <a:pt x="45720" y="2383561"/>
                  </a:lnTo>
                  <a:lnTo>
                    <a:pt x="91440" y="2395804"/>
                  </a:lnTo>
                  <a:lnTo>
                    <a:pt x="2606040" y="2395435"/>
                  </a:lnTo>
                  <a:lnTo>
                    <a:pt x="2651759" y="2383205"/>
                  </a:lnTo>
                  <a:lnTo>
                    <a:pt x="2685249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79" y="2303995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9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35884" y="11887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515779" y="130705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98544" y="1308493"/>
            <a:ext cx="1109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Tracing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12820" y="1815020"/>
            <a:ext cx="2131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Each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tool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call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logged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child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endParaRPr sz="1200">
              <a:latin typeface="Calibri"/>
              <a:cs typeface="Calibri"/>
            </a:endParaRPr>
          </a:p>
          <a:p>
            <a:pPr marL="12700" marR="296545">
              <a:lnSpc>
                <a:spcPct val="100000"/>
              </a:lnSpc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full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drill-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down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visibility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per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agent.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09359" y="3566159"/>
            <a:ext cx="2697480" cy="2395855"/>
            <a:chOff x="6309359" y="3566159"/>
            <a:chExt cx="2697480" cy="2395855"/>
          </a:xfrm>
        </p:grpSpPr>
        <p:sp>
          <p:nvSpPr>
            <p:cNvPr id="34" name="object 34"/>
            <p:cNvSpPr/>
            <p:nvPr/>
          </p:nvSpPr>
          <p:spPr>
            <a:xfrm>
              <a:off x="6309359" y="356615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774" y="2316002"/>
                  </a:lnTo>
                  <a:lnTo>
                    <a:pt x="798" y="2316363"/>
                  </a:lnTo>
                  <a:lnTo>
                    <a:pt x="3077" y="2327670"/>
                  </a:lnTo>
                  <a:lnTo>
                    <a:pt x="3149" y="2328029"/>
                  </a:lnTo>
                  <a:lnTo>
                    <a:pt x="6863" y="2338930"/>
                  </a:lnTo>
                  <a:lnTo>
                    <a:pt x="35676" y="2376960"/>
                  </a:lnTo>
                  <a:lnTo>
                    <a:pt x="79434" y="2395005"/>
                  </a:lnTo>
                  <a:lnTo>
                    <a:pt x="91439" y="2395804"/>
                  </a:lnTo>
                  <a:lnTo>
                    <a:pt x="2606040" y="2395435"/>
                  </a:lnTo>
                  <a:lnTo>
                    <a:pt x="2651760" y="2383205"/>
                  </a:lnTo>
                  <a:lnTo>
                    <a:pt x="2685237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80" y="2303995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73875" y="374903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604" y="0"/>
                  </a:moveTo>
                  <a:lnTo>
                    <a:pt x="176315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87" y="457336"/>
                  </a:lnTo>
                  <a:lnTo>
                    <a:pt x="206689" y="473493"/>
                  </a:lnTo>
                  <a:lnTo>
                    <a:pt x="237604" y="475564"/>
                  </a:lnTo>
                  <a:lnTo>
                    <a:pt x="268727" y="473493"/>
                  </a:lnTo>
                  <a:lnTo>
                    <a:pt x="328681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1" y="17916"/>
                  </a:lnTo>
                  <a:lnTo>
                    <a:pt x="268727" y="2012"/>
                  </a:lnTo>
                  <a:lnTo>
                    <a:pt x="23760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653783" y="386737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36536" y="3868813"/>
            <a:ext cx="1442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0824" y="4375340"/>
            <a:ext cx="2148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Positive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scores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1.0,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negative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0.0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—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tied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run_id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complete traceability.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71355" y="3566159"/>
            <a:ext cx="2697480" cy="2395855"/>
            <a:chOff x="9171355" y="3566159"/>
            <a:chExt cx="2697480" cy="2395855"/>
          </a:xfrm>
        </p:grpSpPr>
        <p:sp>
          <p:nvSpPr>
            <p:cNvPr id="40" name="object 40"/>
            <p:cNvSpPr/>
            <p:nvPr/>
          </p:nvSpPr>
          <p:spPr>
            <a:xfrm>
              <a:off x="9171355" y="3566159"/>
              <a:ext cx="2697480" cy="2395855"/>
            </a:xfrm>
            <a:custGeom>
              <a:avLst/>
              <a:gdLst/>
              <a:ahLst/>
              <a:cxnLst/>
              <a:rect l="l" t="t" r="r" b="b"/>
              <a:pathLst>
                <a:path w="2697479" h="2395854">
                  <a:moveTo>
                    <a:pt x="2605684" y="0"/>
                  </a:moveTo>
                  <a:lnTo>
                    <a:pt x="91440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304364"/>
                  </a:lnTo>
                  <a:lnTo>
                    <a:pt x="12242" y="2350084"/>
                  </a:lnTo>
                  <a:lnTo>
                    <a:pt x="45720" y="2383561"/>
                  </a:lnTo>
                  <a:lnTo>
                    <a:pt x="91440" y="2395804"/>
                  </a:lnTo>
                  <a:lnTo>
                    <a:pt x="2606040" y="2395435"/>
                  </a:lnTo>
                  <a:lnTo>
                    <a:pt x="2651759" y="2383205"/>
                  </a:lnTo>
                  <a:lnTo>
                    <a:pt x="2685249" y="2349715"/>
                  </a:lnTo>
                  <a:lnTo>
                    <a:pt x="2696608" y="2316363"/>
                  </a:lnTo>
                  <a:lnTo>
                    <a:pt x="2696681" y="2316002"/>
                  </a:lnTo>
                  <a:lnTo>
                    <a:pt x="2697455" y="2304364"/>
                  </a:lnTo>
                  <a:lnTo>
                    <a:pt x="2697479" y="2303995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9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335884" y="374903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515779" y="3867378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C1A2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98544" y="386881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Token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12820" y="4375340"/>
            <a:ext cx="2036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Input,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output,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total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token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counts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per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cost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monitoring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optimisation.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Business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0756" y="1050836"/>
            <a:ext cx="2652395" cy="2926715"/>
            <a:chOff x="410756" y="1050836"/>
            <a:chExt cx="2652395" cy="2926715"/>
          </a:xfrm>
        </p:grpSpPr>
        <p:sp>
          <p:nvSpPr>
            <p:cNvPr id="5" name="object 5"/>
            <p:cNvSpPr/>
            <p:nvPr/>
          </p:nvSpPr>
          <p:spPr>
            <a:xfrm>
              <a:off x="41075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59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755" y="0"/>
                  </a:moveTo>
                  <a:lnTo>
                    <a:pt x="310076" y="3076"/>
                  </a:lnTo>
                  <a:lnTo>
                    <a:pt x="264374" y="12195"/>
                  </a:lnTo>
                  <a:lnTo>
                    <a:pt x="220222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22" y="686338"/>
                  </a:lnTo>
                  <a:lnTo>
                    <a:pt x="264374" y="701328"/>
                  </a:lnTo>
                  <a:lnTo>
                    <a:pt x="310076" y="710447"/>
                  </a:lnTo>
                  <a:lnTo>
                    <a:pt x="356755" y="713524"/>
                  </a:lnTo>
                  <a:lnTo>
                    <a:pt x="403231" y="710447"/>
                  </a:lnTo>
                  <a:lnTo>
                    <a:pt x="448830" y="701328"/>
                  </a:lnTo>
                  <a:lnTo>
                    <a:pt x="492944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44" y="27185"/>
                  </a:lnTo>
                  <a:lnTo>
                    <a:pt x="448830" y="12195"/>
                  </a:lnTo>
                  <a:lnTo>
                    <a:pt x="403231" y="3076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00B3D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274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⚡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419" y="2062695"/>
            <a:ext cx="157734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B3D7"/>
                </a:solidFill>
                <a:latin typeface="Calibri"/>
                <a:cs typeface="Calibri"/>
              </a:rPr>
              <a:t>Seconds</a:t>
            </a:r>
            <a:endParaRPr sz="3600">
              <a:latin typeface="Calibri"/>
              <a:cs typeface="Calibri"/>
            </a:endParaRPr>
          </a:p>
          <a:p>
            <a:pPr marL="238760" marR="231775" algn="ctr">
              <a:lnSpc>
                <a:spcPct val="100000"/>
              </a:lnSpc>
              <a:spcBef>
                <a:spcPts val="2445"/>
              </a:spcBef>
            </a:pP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Ad-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hoc</a:t>
            </a:r>
            <a:r>
              <a:rPr sz="12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request resolution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vs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days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45396" y="1050836"/>
            <a:ext cx="2652395" cy="2926715"/>
            <a:chOff x="3245396" y="1050836"/>
            <a:chExt cx="2652395" cy="2926715"/>
          </a:xfrm>
        </p:grpSpPr>
        <p:sp>
          <p:nvSpPr>
            <p:cNvPr id="10" name="object 10"/>
            <p:cNvSpPr/>
            <p:nvPr/>
          </p:nvSpPr>
          <p:spPr>
            <a:xfrm>
              <a:off x="324539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623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9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9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05D59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3813" y="1376895"/>
            <a:ext cx="21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FFFFFF"/>
                </a:solidFill>
                <a:latin typeface="Segoe UI Emoji"/>
                <a:cs typeface="Segoe UI Emoji"/>
              </a:rPr>
              <a:t>✓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3497" y="2062695"/>
            <a:ext cx="1033144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05D59F"/>
                </a:solidFill>
                <a:latin typeface="Calibri"/>
                <a:cs typeface="Calibri"/>
              </a:rPr>
              <a:t>Zero</a:t>
            </a:r>
            <a:endParaRPr sz="3600">
              <a:latin typeface="Calibri"/>
              <a:cs typeface="Calibri"/>
            </a:endParaRPr>
          </a:p>
          <a:p>
            <a:pPr marL="12700" marR="5080" indent="85090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expertise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needed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by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users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80036" y="1050836"/>
            <a:ext cx="2652395" cy="2926715"/>
            <a:chOff x="6080036" y="1050836"/>
            <a:chExt cx="2652395" cy="2926715"/>
          </a:xfrm>
        </p:grpSpPr>
        <p:sp>
          <p:nvSpPr>
            <p:cNvPr id="15" name="object 15"/>
            <p:cNvSpPr/>
            <p:nvPr/>
          </p:nvSpPr>
          <p:spPr>
            <a:xfrm>
              <a:off x="608003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39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40880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FF9E1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4202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📋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9856" y="2062695"/>
            <a:ext cx="105410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FF9E1B"/>
                </a:solidFill>
                <a:latin typeface="Calibri"/>
                <a:cs typeface="Calibri"/>
              </a:rPr>
              <a:t>100%</a:t>
            </a:r>
            <a:endParaRPr sz="3600">
              <a:latin typeface="Calibri"/>
              <a:cs typeface="Calibri"/>
            </a:endParaRPr>
          </a:p>
          <a:p>
            <a:pPr marL="104139" marR="27305" indent="-72390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Queries</a:t>
            </a:r>
            <a:r>
              <a:rPr sz="1200" spc="-6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audited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traceable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14676" y="1050836"/>
            <a:ext cx="2652395" cy="2926715"/>
            <a:chOff x="8914676" y="1050836"/>
            <a:chExt cx="2652395" cy="2926715"/>
          </a:xfrm>
        </p:grpSpPr>
        <p:sp>
          <p:nvSpPr>
            <p:cNvPr id="20" name="object 20"/>
            <p:cNvSpPr/>
            <p:nvPr/>
          </p:nvSpPr>
          <p:spPr>
            <a:xfrm>
              <a:off x="8914676" y="1050836"/>
              <a:ext cx="2652395" cy="2926715"/>
            </a:xfrm>
            <a:custGeom>
              <a:avLst/>
              <a:gdLst/>
              <a:ahLst/>
              <a:cxnLst/>
              <a:rect l="l" t="t" r="r" b="b"/>
              <a:pathLst>
                <a:path w="2652395" h="29267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2835008"/>
                  </a:lnTo>
                  <a:lnTo>
                    <a:pt x="798" y="2847008"/>
                  </a:lnTo>
                  <a:lnTo>
                    <a:pt x="18843" y="2890765"/>
                  </a:lnTo>
                  <a:lnTo>
                    <a:pt x="56512" y="2919456"/>
                  </a:lnTo>
                  <a:lnTo>
                    <a:pt x="91440" y="2926448"/>
                  </a:lnTo>
                  <a:lnTo>
                    <a:pt x="2560688" y="2926448"/>
                  </a:lnTo>
                  <a:lnTo>
                    <a:pt x="2606408" y="2914205"/>
                  </a:lnTo>
                  <a:lnTo>
                    <a:pt x="2639885" y="2880728"/>
                  </a:lnTo>
                  <a:lnTo>
                    <a:pt x="2652128" y="283500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52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75519" y="117000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29" y="12195"/>
                  </a:lnTo>
                  <a:lnTo>
                    <a:pt x="220217" y="27185"/>
                  </a:lnTo>
                  <a:lnTo>
                    <a:pt x="178193" y="47879"/>
                  </a:lnTo>
                  <a:lnTo>
                    <a:pt x="139460" y="73866"/>
                  </a:lnTo>
                  <a:lnTo>
                    <a:pt x="104535" y="104581"/>
                  </a:lnTo>
                  <a:lnTo>
                    <a:pt x="73861" y="139615"/>
                  </a:lnTo>
                  <a:lnTo>
                    <a:pt x="47878" y="178562"/>
                  </a:lnTo>
                  <a:lnTo>
                    <a:pt x="27185" y="220377"/>
                  </a:lnTo>
                  <a:lnTo>
                    <a:pt x="12195" y="264420"/>
                  </a:lnTo>
                  <a:lnTo>
                    <a:pt x="3076" y="310082"/>
                  </a:lnTo>
                  <a:lnTo>
                    <a:pt x="0" y="356755"/>
                  </a:lnTo>
                  <a:lnTo>
                    <a:pt x="3076" y="403436"/>
                  </a:lnTo>
                  <a:lnTo>
                    <a:pt x="12195" y="449102"/>
                  </a:lnTo>
                  <a:lnTo>
                    <a:pt x="27185" y="493145"/>
                  </a:lnTo>
                  <a:lnTo>
                    <a:pt x="47878" y="534962"/>
                  </a:lnTo>
                  <a:lnTo>
                    <a:pt x="73861" y="573906"/>
                  </a:lnTo>
                  <a:lnTo>
                    <a:pt x="104535" y="608938"/>
                  </a:lnTo>
                  <a:lnTo>
                    <a:pt x="139460" y="639651"/>
                  </a:lnTo>
                  <a:lnTo>
                    <a:pt x="178193" y="665645"/>
                  </a:lnTo>
                  <a:lnTo>
                    <a:pt x="220217" y="686338"/>
                  </a:lnTo>
                  <a:lnTo>
                    <a:pt x="264329" y="701328"/>
                  </a:lnTo>
                  <a:lnTo>
                    <a:pt x="309926" y="710447"/>
                  </a:lnTo>
                  <a:lnTo>
                    <a:pt x="356400" y="713524"/>
                  </a:lnTo>
                  <a:lnTo>
                    <a:pt x="403081" y="710447"/>
                  </a:lnTo>
                  <a:lnTo>
                    <a:pt x="448786" y="701328"/>
                  </a:lnTo>
                  <a:lnTo>
                    <a:pt x="492938" y="686338"/>
                  </a:lnTo>
                  <a:lnTo>
                    <a:pt x="534962" y="665645"/>
                  </a:lnTo>
                  <a:lnTo>
                    <a:pt x="573701" y="639651"/>
                  </a:lnTo>
                  <a:lnTo>
                    <a:pt x="608625" y="608938"/>
                  </a:lnTo>
                  <a:lnTo>
                    <a:pt x="639296" y="573906"/>
                  </a:lnTo>
                  <a:lnTo>
                    <a:pt x="665276" y="534962"/>
                  </a:lnTo>
                  <a:lnTo>
                    <a:pt x="685970" y="493145"/>
                  </a:lnTo>
                  <a:lnTo>
                    <a:pt x="700960" y="449102"/>
                  </a:lnTo>
                  <a:lnTo>
                    <a:pt x="710078" y="403436"/>
                  </a:lnTo>
                  <a:lnTo>
                    <a:pt x="713155" y="356755"/>
                  </a:lnTo>
                  <a:lnTo>
                    <a:pt x="710078" y="310082"/>
                  </a:lnTo>
                  <a:lnTo>
                    <a:pt x="700960" y="264420"/>
                  </a:lnTo>
                  <a:lnTo>
                    <a:pt x="685970" y="220377"/>
                  </a:lnTo>
                  <a:lnTo>
                    <a:pt x="665276" y="178562"/>
                  </a:lnTo>
                  <a:lnTo>
                    <a:pt x="639296" y="139615"/>
                  </a:lnTo>
                  <a:lnTo>
                    <a:pt x="608625" y="104581"/>
                  </a:lnTo>
                  <a:lnTo>
                    <a:pt x="573701" y="73866"/>
                  </a:lnTo>
                  <a:lnTo>
                    <a:pt x="534962" y="47879"/>
                  </a:lnTo>
                  <a:lnTo>
                    <a:pt x="492938" y="27185"/>
                  </a:lnTo>
                  <a:lnTo>
                    <a:pt x="448786" y="12195"/>
                  </a:lnTo>
                  <a:lnTo>
                    <a:pt x="403081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0095B6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076662" y="1336488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solidFill>
                  <a:srgbClr val="FFFFFF"/>
                </a:solidFill>
                <a:latin typeface="MingLiU_HKSCS-ExtB"/>
                <a:cs typeface="MingLiU_HKSCS-ExtB"/>
              </a:rPr>
              <a:t>⚙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6140" y="2062695"/>
            <a:ext cx="1267460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0095B6"/>
                </a:solidFill>
                <a:latin typeface="Calibri"/>
                <a:cs typeface="Calibri"/>
              </a:rPr>
              <a:t>Any</a:t>
            </a:r>
            <a:endParaRPr sz="3600">
              <a:latin typeface="Calibri"/>
              <a:cs typeface="Calibri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244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Client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warehouse deployable</a:t>
            </a:r>
            <a:r>
              <a:rPr sz="1200" spc="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instantly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844" y="4160520"/>
            <a:ext cx="11247120" cy="1207135"/>
          </a:xfrm>
          <a:custGeom>
            <a:avLst/>
            <a:gdLst/>
            <a:ahLst/>
            <a:cxnLst/>
            <a:rect l="l" t="t" r="r" b="b"/>
            <a:pathLst>
              <a:path w="11247120" h="1207135">
                <a:moveTo>
                  <a:pt x="11155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115644"/>
                </a:lnTo>
                <a:lnTo>
                  <a:pt x="6858" y="1150210"/>
                </a:lnTo>
                <a:lnTo>
                  <a:pt x="6981" y="1150571"/>
                </a:lnTo>
                <a:lnTo>
                  <a:pt x="35675" y="1188240"/>
                </a:lnTo>
                <a:lnTo>
                  <a:pt x="79433" y="1206285"/>
                </a:lnTo>
                <a:lnTo>
                  <a:pt x="91439" y="1207084"/>
                </a:lnTo>
                <a:lnTo>
                  <a:pt x="11155680" y="1206715"/>
                </a:lnTo>
                <a:lnTo>
                  <a:pt x="11201400" y="1194485"/>
                </a:lnTo>
                <a:lnTo>
                  <a:pt x="11234877" y="1160995"/>
                </a:lnTo>
                <a:lnTo>
                  <a:pt x="11247095" y="1115644"/>
                </a:lnTo>
                <a:lnTo>
                  <a:pt x="11247120" y="1115275"/>
                </a:lnTo>
                <a:lnTo>
                  <a:pt x="11246751" y="91439"/>
                </a:lnTo>
                <a:lnTo>
                  <a:pt x="11234521" y="45719"/>
                </a:lnTo>
                <a:lnTo>
                  <a:pt x="11201031" y="12242"/>
                </a:lnTo>
                <a:lnTo>
                  <a:pt x="11167318" y="798"/>
                </a:lnTo>
                <a:lnTo>
                  <a:pt x="11155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5380" y="4306227"/>
            <a:ext cx="1033335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Reusability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Across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AIA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400" b="1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B3D7"/>
                </a:solidFill>
                <a:latin typeface="Calibri"/>
                <a:cs typeface="Calibri"/>
              </a:rPr>
              <a:t>Vertical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QData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requires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minimal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configuration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change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per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client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—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any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organisation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running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Amazon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Redshift,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Snowflake,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or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structured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warehouse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can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deploy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this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200" spc="-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system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immediately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enable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natural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language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access</a:t>
            </a:r>
            <a:r>
              <a:rPr sz="12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200" spc="-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their</a:t>
            </a:r>
            <a:r>
              <a:rPr sz="12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teams.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7631"/>
                </a:lnTo>
                <a:lnTo>
                  <a:pt x="6095885" y="6857631"/>
                </a:lnTo>
                <a:lnTo>
                  <a:pt x="12191758" y="6857631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Current</a:t>
            </a:r>
            <a:r>
              <a:rPr spc="-90" dirty="0"/>
              <a:t> </a:t>
            </a:r>
            <a:r>
              <a:rPr dirty="0"/>
              <a:t>Status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Roadmap</a:t>
            </a:r>
          </a:p>
        </p:txBody>
      </p:sp>
      <p:sp>
        <p:nvSpPr>
          <p:cNvPr id="4" name="object 4"/>
          <p:cNvSpPr/>
          <p:nvPr/>
        </p:nvSpPr>
        <p:spPr>
          <a:xfrm>
            <a:off x="456844" y="777240"/>
            <a:ext cx="457200" cy="45720"/>
          </a:xfrm>
          <a:custGeom>
            <a:avLst/>
            <a:gdLst/>
            <a:ahLst/>
            <a:cxnLst/>
            <a:rect l="l" t="t" r="r" b="b"/>
            <a:pathLst>
              <a:path w="457200" h="45719">
                <a:moveTo>
                  <a:pt x="456831" y="0"/>
                </a:moveTo>
                <a:lnTo>
                  <a:pt x="0" y="0"/>
                </a:lnTo>
                <a:lnTo>
                  <a:pt x="0" y="45364"/>
                </a:lnTo>
                <a:lnTo>
                  <a:pt x="228600" y="45364"/>
                </a:lnTo>
                <a:lnTo>
                  <a:pt x="456831" y="45364"/>
                </a:lnTo>
                <a:lnTo>
                  <a:pt x="456831" y="0"/>
                </a:lnTo>
                <a:close/>
              </a:path>
            </a:pathLst>
          </a:custGeom>
          <a:solidFill>
            <a:srgbClr val="00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005484"/>
            <a:ext cx="5349875" cy="5258435"/>
          </a:xfrm>
          <a:custGeom>
            <a:avLst/>
            <a:gdLst/>
            <a:ahLst/>
            <a:cxnLst/>
            <a:rect l="l" t="t" r="r" b="b"/>
            <a:pathLst>
              <a:path w="5349875" h="525843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30" y="5222479"/>
                </a:lnTo>
                <a:lnTo>
                  <a:pt x="56505" y="5251169"/>
                </a:lnTo>
                <a:lnTo>
                  <a:pt x="91439" y="5258155"/>
                </a:lnTo>
                <a:lnTo>
                  <a:pt x="5258155" y="5258155"/>
                </a:lnTo>
                <a:lnTo>
                  <a:pt x="5303875" y="5245912"/>
                </a:lnTo>
                <a:lnTo>
                  <a:pt x="5337352" y="5212435"/>
                </a:lnTo>
                <a:lnTo>
                  <a:pt x="5349595" y="5166715"/>
                </a:lnTo>
                <a:lnTo>
                  <a:pt x="5349571" y="91439"/>
                </a:lnTo>
                <a:lnTo>
                  <a:pt x="5337352" y="46075"/>
                </a:lnTo>
                <a:lnTo>
                  <a:pt x="5303875" y="12598"/>
                </a:lnTo>
                <a:lnTo>
                  <a:pt x="525815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7384" y="1148247"/>
            <a:ext cx="248602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Phase</a:t>
            </a:r>
            <a:r>
              <a:rPr sz="1300" b="1" spc="-4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1</a:t>
            </a:r>
            <a:r>
              <a:rPr sz="1300" b="1" spc="-25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—</a:t>
            </a:r>
            <a:r>
              <a:rPr sz="1300" b="1" spc="-25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SQL</a:t>
            </a:r>
            <a:r>
              <a:rPr sz="1300" b="1" spc="-2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5D59F"/>
                </a:solidFill>
                <a:latin typeface="Calibri"/>
                <a:cs typeface="Calibri"/>
              </a:rPr>
              <a:t>Agent</a:t>
            </a:r>
            <a:r>
              <a:rPr sz="1300" b="1" spc="270" dirty="0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sz="1500" spc="285" dirty="0">
                <a:solidFill>
                  <a:srgbClr val="05D59F"/>
                </a:solidFill>
                <a:latin typeface="MingLiU_HKSCS-ExtB"/>
                <a:cs typeface="MingLiU_HKSCS-ExtB"/>
              </a:rPr>
              <a:t>✅</a:t>
            </a:r>
            <a:r>
              <a:rPr sz="1500" spc="-345" dirty="0">
                <a:solidFill>
                  <a:srgbClr val="05D59F"/>
                </a:solidFill>
                <a:latin typeface="MingLiU_HKSCS-ExtB"/>
                <a:cs typeface="MingLiU_HKSCS-ExtB"/>
              </a:rPr>
              <a:t> </a:t>
            </a:r>
            <a:r>
              <a:rPr sz="1300" b="1" spc="-10" dirty="0">
                <a:solidFill>
                  <a:srgbClr val="05D59F"/>
                </a:solidFill>
                <a:latin typeface="Calibri"/>
                <a:cs typeface="Calibri"/>
              </a:rPr>
              <a:t>Complete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24" y="1672920"/>
            <a:ext cx="246951" cy="246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6661" y="172285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425" y="1704505"/>
            <a:ext cx="20250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terminal-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724" y="2102764"/>
            <a:ext cx="246951" cy="24695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661" y="2152700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4425" y="2134349"/>
            <a:ext cx="20535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Redshift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connectivity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2532595"/>
            <a:ext cx="246951" cy="246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16661" y="258253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4425" y="2564180"/>
            <a:ext cx="20021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dot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notation</a:t>
            </a:r>
            <a:r>
              <a:rPr sz="11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24" y="2962440"/>
            <a:ext cx="246951" cy="2469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6661" y="301237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4425" y="2994024"/>
            <a:ext cx="19869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AST-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mutation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prevention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3391915"/>
            <a:ext cx="246951" cy="246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16661" y="344185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4425" y="3423501"/>
            <a:ext cx="2329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(HS256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KMS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RS256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prod)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24" y="3821760"/>
            <a:ext cx="246951" cy="24696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6661" y="387169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425" y="3853345"/>
            <a:ext cx="23234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LangSmith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traced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724" y="4251604"/>
            <a:ext cx="246951" cy="24695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16661" y="4301540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4425" y="4283189"/>
            <a:ext cx="17748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Production-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grade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intent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4681435"/>
            <a:ext cx="246951" cy="24696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16661" y="473137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4425" y="4713020"/>
            <a:ext cx="2486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hallucinated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24" y="5111280"/>
            <a:ext cx="246951" cy="24696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16661" y="5161216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4425" y="5142865"/>
            <a:ext cx="2047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isolation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temp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sandbox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24" y="5540755"/>
            <a:ext cx="246951" cy="24696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16661" y="5590692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0C1A29"/>
                </a:solidFill>
                <a:latin typeface="Segoe UI Symbol"/>
                <a:cs typeface="Segoe UI Symbol"/>
              </a:rPr>
              <a:t>✓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4425" y="5572340"/>
            <a:ext cx="2060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MCP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service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80404" y="1005484"/>
            <a:ext cx="5624195" cy="5258435"/>
          </a:xfrm>
          <a:custGeom>
            <a:avLst/>
            <a:gdLst/>
            <a:ahLst/>
            <a:cxnLst/>
            <a:rect l="l" t="t" r="r" b="b"/>
            <a:pathLst>
              <a:path w="5624195" h="5258435">
                <a:moveTo>
                  <a:pt x="91795" y="0"/>
                </a:moveTo>
                <a:lnTo>
                  <a:pt x="46075" y="12230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5166715"/>
                </a:lnTo>
                <a:lnTo>
                  <a:pt x="798" y="5178720"/>
                </a:lnTo>
                <a:lnTo>
                  <a:pt x="18830" y="5222479"/>
                </a:lnTo>
                <a:lnTo>
                  <a:pt x="56505" y="5251169"/>
                </a:lnTo>
                <a:lnTo>
                  <a:pt x="91439" y="5258155"/>
                </a:lnTo>
                <a:lnTo>
                  <a:pt x="5532475" y="5258155"/>
                </a:lnTo>
                <a:lnTo>
                  <a:pt x="5578195" y="5245912"/>
                </a:lnTo>
                <a:lnTo>
                  <a:pt x="5611672" y="5212435"/>
                </a:lnTo>
                <a:lnTo>
                  <a:pt x="5623915" y="5166715"/>
                </a:lnTo>
                <a:lnTo>
                  <a:pt x="5623891" y="91439"/>
                </a:lnTo>
                <a:lnTo>
                  <a:pt x="5611672" y="46075"/>
                </a:lnTo>
                <a:lnTo>
                  <a:pt x="5578195" y="12598"/>
                </a:lnTo>
                <a:lnTo>
                  <a:pt x="5532475" y="355"/>
                </a:lnTo>
                <a:lnTo>
                  <a:pt x="91795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40944" y="1177455"/>
            <a:ext cx="172973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Roadmap</a:t>
            </a:r>
            <a:r>
              <a:rPr sz="13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—</a:t>
            </a:r>
            <a:r>
              <a:rPr sz="1300" b="1" spc="-3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B3D7"/>
                </a:solidFill>
                <a:latin typeface="Calibri"/>
                <a:cs typeface="Calibri"/>
              </a:rPr>
              <a:t>Next</a:t>
            </a:r>
            <a:r>
              <a:rPr sz="1300" b="1" spc="-3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B3D7"/>
                </a:solidFill>
                <a:latin typeface="Calibri"/>
                <a:cs typeface="Calibri"/>
              </a:rPr>
              <a:t>Phases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11570" y="1621205"/>
            <a:ext cx="5361940" cy="972819"/>
            <a:chOff x="6211570" y="1621205"/>
            <a:chExt cx="5361940" cy="972819"/>
          </a:xfrm>
        </p:grpSpPr>
        <p:sp>
          <p:nvSpPr>
            <p:cNvPr id="40" name="object 40"/>
            <p:cNvSpPr/>
            <p:nvPr/>
          </p:nvSpPr>
          <p:spPr>
            <a:xfrm>
              <a:off x="6217920" y="162755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19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6" y="891994"/>
                  </a:lnTo>
                  <a:lnTo>
                    <a:pt x="3149" y="892354"/>
                  </a:lnTo>
                  <a:lnTo>
                    <a:pt x="6863" y="903253"/>
                  </a:lnTo>
                  <a:lnTo>
                    <a:pt x="6986" y="903614"/>
                  </a:lnTo>
                  <a:lnTo>
                    <a:pt x="35676" y="941289"/>
                  </a:lnTo>
                  <a:lnTo>
                    <a:pt x="79434" y="959321"/>
                  </a:lnTo>
                  <a:lnTo>
                    <a:pt x="91439" y="960120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79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20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FF9E1B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17920" y="162755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19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20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20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9E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3640" y="171000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11996" y="221250"/>
                  </a:lnTo>
                  <a:lnTo>
                    <a:pt x="21234" y="240118"/>
                  </a:lnTo>
                  <a:lnTo>
                    <a:pt x="32782" y="257275"/>
                  </a:lnTo>
                  <a:lnTo>
                    <a:pt x="32886" y="257430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39"/>
                  </a:lnTo>
                  <a:lnTo>
                    <a:pt x="800277" y="320039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FF9E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48666" y="178837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92504" y="1733734"/>
            <a:ext cx="94932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85" dirty="0">
                <a:solidFill>
                  <a:srgbClr val="FFFFFF"/>
                </a:solidFill>
                <a:latin typeface="MingLiU_HKSCS-ExtB"/>
                <a:cs typeface="MingLiU_HKSCS-ExtB"/>
              </a:rPr>
              <a:t>🔨</a:t>
            </a:r>
            <a:endParaRPr sz="1400">
              <a:latin typeface="MingLiU_HKSCS-ExtB"/>
              <a:cs typeface="MingLiU_HKSCS-ExtB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40576" y="2138667"/>
            <a:ext cx="46786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PDF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ingestion,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semantic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 chunking,</a:t>
            </a:r>
            <a:r>
              <a:rPr sz="10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hybrid vector+BM25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search,</a:t>
            </a:r>
            <a:r>
              <a:rPr sz="1000" spc="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reranking,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citation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tracking. Connects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as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second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agent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orchestrator.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11570" y="2718485"/>
            <a:ext cx="5361940" cy="972819"/>
            <a:chOff x="6211570" y="2718485"/>
            <a:chExt cx="5361940" cy="972819"/>
          </a:xfrm>
        </p:grpSpPr>
        <p:sp>
          <p:nvSpPr>
            <p:cNvPr id="47" name="object 47"/>
            <p:cNvSpPr/>
            <p:nvPr/>
          </p:nvSpPr>
          <p:spPr>
            <a:xfrm>
              <a:off x="6217920" y="272483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40"/>
                  </a:lnTo>
                  <a:lnTo>
                    <a:pt x="0" y="868680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18836" y="924444"/>
                  </a:lnTo>
                  <a:lnTo>
                    <a:pt x="56510" y="953138"/>
                  </a:lnTo>
                  <a:lnTo>
                    <a:pt x="91439" y="960120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80"/>
                  </a:lnTo>
                  <a:lnTo>
                    <a:pt x="5349239" y="868324"/>
                  </a:lnTo>
                  <a:lnTo>
                    <a:pt x="5348884" y="91440"/>
                  </a:lnTo>
                  <a:lnTo>
                    <a:pt x="5336641" y="45720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0B3D7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17920" y="272483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40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20"/>
                  </a:lnTo>
                  <a:lnTo>
                    <a:pt x="5348884" y="91440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20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00B3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3640" y="280728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1334" y="180777"/>
                  </a:lnTo>
                  <a:lnTo>
                    <a:pt x="1344" y="180932"/>
                  </a:lnTo>
                  <a:lnTo>
                    <a:pt x="5319" y="201280"/>
                  </a:lnTo>
                  <a:lnTo>
                    <a:pt x="5354" y="201460"/>
                  </a:lnTo>
                  <a:lnTo>
                    <a:pt x="11927" y="221038"/>
                  </a:lnTo>
                  <a:lnTo>
                    <a:pt x="11996" y="221244"/>
                  </a:lnTo>
                  <a:lnTo>
                    <a:pt x="21234" y="240118"/>
                  </a:lnTo>
                  <a:lnTo>
                    <a:pt x="32782" y="257275"/>
                  </a:lnTo>
                  <a:lnTo>
                    <a:pt x="32886" y="257430"/>
                  </a:lnTo>
                  <a:lnTo>
                    <a:pt x="46662" y="273054"/>
                  </a:lnTo>
                  <a:lnTo>
                    <a:pt x="79921" y="298437"/>
                  </a:lnTo>
                  <a:lnTo>
                    <a:pt x="118395" y="314501"/>
                  </a:lnTo>
                  <a:lnTo>
                    <a:pt x="159842" y="320039"/>
                  </a:lnTo>
                  <a:lnTo>
                    <a:pt x="800277" y="319671"/>
                  </a:lnTo>
                  <a:lnTo>
                    <a:pt x="841590" y="314317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6" y="221244"/>
                  </a:lnTo>
                  <a:lnTo>
                    <a:pt x="947818" y="221038"/>
                  </a:lnTo>
                  <a:lnTo>
                    <a:pt x="954524" y="201460"/>
                  </a:lnTo>
                  <a:lnTo>
                    <a:pt x="954585" y="201280"/>
                  </a:lnTo>
                  <a:lnTo>
                    <a:pt x="958688" y="180932"/>
                  </a:lnTo>
                  <a:lnTo>
                    <a:pt x="958719" y="180777"/>
                  </a:lnTo>
                  <a:lnTo>
                    <a:pt x="960119" y="159829"/>
                  </a:lnTo>
                  <a:lnTo>
                    <a:pt x="958719" y="138939"/>
                  </a:lnTo>
                  <a:lnTo>
                    <a:pt x="947818" y="98782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48666" y="288565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92504" y="2857931"/>
            <a:ext cx="4895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12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40576" y="3312261"/>
            <a:ext cx="49428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React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chat</a:t>
            </a:r>
            <a:r>
              <a:rPr sz="1000" spc="-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interface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end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users.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File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upload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CSV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and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PDFs.</a:t>
            </a:r>
            <a:r>
              <a:rPr sz="10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REST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API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via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FastAPI</a:t>
            </a:r>
            <a:r>
              <a:rPr sz="1000" spc="-3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app</a:t>
            </a:r>
            <a:r>
              <a:rPr sz="1000" spc="-3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server.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211570" y="3815765"/>
            <a:ext cx="5361940" cy="972819"/>
            <a:chOff x="6211570" y="3815765"/>
            <a:chExt cx="5361940" cy="972819"/>
          </a:xfrm>
        </p:grpSpPr>
        <p:sp>
          <p:nvSpPr>
            <p:cNvPr id="54" name="object 54"/>
            <p:cNvSpPr/>
            <p:nvPr/>
          </p:nvSpPr>
          <p:spPr>
            <a:xfrm>
              <a:off x="6217920" y="382211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80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18836" y="924444"/>
                  </a:lnTo>
                  <a:lnTo>
                    <a:pt x="56510" y="953138"/>
                  </a:lnTo>
                  <a:lnTo>
                    <a:pt x="91439" y="960119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80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19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5D59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17920" y="382211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19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19"/>
                  </a:lnTo>
                  <a:lnTo>
                    <a:pt x="45719" y="947889"/>
                  </a:lnTo>
                  <a:lnTo>
                    <a:pt x="12242" y="914400"/>
                  </a:lnTo>
                  <a:lnTo>
                    <a:pt x="0" y="86868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63640" y="390456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32782" y="257275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39"/>
                  </a:lnTo>
                  <a:lnTo>
                    <a:pt x="800277" y="320039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548666" y="398293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92504" y="3955211"/>
            <a:ext cx="1163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Docker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ECS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340576" y="4409541"/>
            <a:ext cx="45815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Containerised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deployment.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docker-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compose</a:t>
            </a:r>
            <a:r>
              <a:rPr sz="1000" spc="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for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local.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Scalable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cloud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deployment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on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ECS.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211620" y="4913095"/>
            <a:ext cx="5361940" cy="972819"/>
            <a:chOff x="6211620" y="4913095"/>
            <a:chExt cx="5361940" cy="972819"/>
          </a:xfrm>
        </p:grpSpPr>
        <p:sp>
          <p:nvSpPr>
            <p:cNvPr id="61" name="object 61"/>
            <p:cNvSpPr/>
            <p:nvPr/>
          </p:nvSpPr>
          <p:spPr>
            <a:xfrm>
              <a:off x="6217919" y="491939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52574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74" y="880329"/>
                  </a:lnTo>
                  <a:lnTo>
                    <a:pt x="798" y="880686"/>
                  </a:lnTo>
                  <a:lnTo>
                    <a:pt x="3076" y="891994"/>
                  </a:lnTo>
                  <a:lnTo>
                    <a:pt x="3149" y="892354"/>
                  </a:lnTo>
                  <a:lnTo>
                    <a:pt x="6863" y="903253"/>
                  </a:lnTo>
                  <a:lnTo>
                    <a:pt x="6986" y="903614"/>
                  </a:lnTo>
                  <a:lnTo>
                    <a:pt x="35676" y="941289"/>
                  </a:lnTo>
                  <a:lnTo>
                    <a:pt x="79434" y="959321"/>
                  </a:lnTo>
                  <a:lnTo>
                    <a:pt x="91439" y="960119"/>
                  </a:lnTo>
                  <a:lnTo>
                    <a:pt x="5257800" y="959764"/>
                  </a:lnTo>
                  <a:lnTo>
                    <a:pt x="5303520" y="947521"/>
                  </a:lnTo>
                  <a:lnTo>
                    <a:pt x="5336997" y="914044"/>
                  </a:lnTo>
                  <a:lnTo>
                    <a:pt x="5345967" y="892354"/>
                  </a:lnTo>
                  <a:lnTo>
                    <a:pt x="5346090" y="891994"/>
                  </a:lnTo>
                  <a:lnTo>
                    <a:pt x="5348369" y="880686"/>
                  </a:lnTo>
                  <a:lnTo>
                    <a:pt x="5348441" y="880329"/>
                  </a:lnTo>
                  <a:lnTo>
                    <a:pt x="5349216" y="868679"/>
                  </a:lnTo>
                  <a:lnTo>
                    <a:pt x="5349239" y="868324"/>
                  </a:lnTo>
                  <a:lnTo>
                    <a:pt x="5348884" y="91439"/>
                  </a:lnTo>
                  <a:lnTo>
                    <a:pt x="5336641" y="45719"/>
                  </a:lnTo>
                  <a:lnTo>
                    <a:pt x="5303164" y="12242"/>
                  </a:lnTo>
                  <a:lnTo>
                    <a:pt x="5269444" y="798"/>
                  </a:lnTo>
                  <a:lnTo>
                    <a:pt x="5257444" y="0"/>
                  </a:lnTo>
                  <a:close/>
                </a:path>
              </a:pathLst>
            </a:custGeom>
            <a:solidFill>
              <a:srgbClr val="0095B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17919" y="4919395"/>
              <a:ext cx="5349240" cy="960119"/>
            </a:xfrm>
            <a:custGeom>
              <a:avLst/>
              <a:gdLst/>
              <a:ahLst/>
              <a:cxnLst/>
              <a:rect l="l" t="t" r="r" b="b"/>
              <a:pathLst>
                <a:path w="5349240" h="96012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5257444" y="0"/>
                  </a:lnTo>
                  <a:lnTo>
                    <a:pt x="5303164" y="12242"/>
                  </a:lnTo>
                  <a:lnTo>
                    <a:pt x="5336641" y="45719"/>
                  </a:lnTo>
                  <a:lnTo>
                    <a:pt x="5348884" y="91439"/>
                  </a:lnTo>
                  <a:lnTo>
                    <a:pt x="5349239" y="868324"/>
                  </a:lnTo>
                  <a:lnTo>
                    <a:pt x="5348441" y="880329"/>
                  </a:lnTo>
                  <a:lnTo>
                    <a:pt x="5346090" y="891994"/>
                  </a:lnTo>
                  <a:lnTo>
                    <a:pt x="5322558" y="933078"/>
                  </a:lnTo>
                  <a:lnTo>
                    <a:pt x="5281469" y="956614"/>
                  </a:lnTo>
                  <a:lnTo>
                    <a:pt x="91439" y="960119"/>
                  </a:lnTo>
                  <a:lnTo>
                    <a:pt x="45719" y="947889"/>
                  </a:lnTo>
                  <a:lnTo>
                    <a:pt x="12242" y="914399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9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263639" y="5001844"/>
              <a:ext cx="960119" cy="320040"/>
            </a:xfrm>
            <a:custGeom>
              <a:avLst/>
              <a:gdLst/>
              <a:ahLst/>
              <a:cxnLst/>
              <a:rect l="l" t="t" r="r" b="b"/>
              <a:pathLst>
                <a:path w="960120" h="320039">
                  <a:moveTo>
                    <a:pt x="799922" y="0"/>
                  </a:moveTo>
                  <a:lnTo>
                    <a:pt x="160197" y="0"/>
                  </a:lnTo>
                  <a:lnTo>
                    <a:pt x="138227" y="1399"/>
                  </a:lnTo>
                  <a:lnTo>
                    <a:pt x="138815" y="1399"/>
                  </a:lnTo>
                  <a:lnTo>
                    <a:pt x="118573" y="5354"/>
                  </a:lnTo>
                  <a:lnTo>
                    <a:pt x="79921" y="21234"/>
                  </a:lnTo>
                  <a:lnTo>
                    <a:pt x="46980" y="46662"/>
                  </a:lnTo>
                  <a:lnTo>
                    <a:pt x="21602" y="79921"/>
                  </a:lnTo>
                  <a:lnTo>
                    <a:pt x="5534" y="118389"/>
                  </a:lnTo>
                  <a:lnTo>
                    <a:pt x="0" y="159829"/>
                  </a:lnTo>
                  <a:lnTo>
                    <a:pt x="0" y="160197"/>
                  </a:lnTo>
                  <a:lnTo>
                    <a:pt x="1324" y="180777"/>
                  </a:lnTo>
                  <a:lnTo>
                    <a:pt x="1344" y="181088"/>
                  </a:lnTo>
                  <a:lnTo>
                    <a:pt x="5310" y="201280"/>
                  </a:lnTo>
                  <a:lnTo>
                    <a:pt x="5354" y="201506"/>
                  </a:lnTo>
                  <a:lnTo>
                    <a:pt x="11925" y="221038"/>
                  </a:lnTo>
                  <a:lnTo>
                    <a:pt x="32782" y="257275"/>
                  </a:lnTo>
                  <a:lnTo>
                    <a:pt x="62396" y="286790"/>
                  </a:lnTo>
                  <a:lnTo>
                    <a:pt x="98634" y="307733"/>
                  </a:lnTo>
                  <a:lnTo>
                    <a:pt x="138899" y="318638"/>
                  </a:lnTo>
                  <a:lnTo>
                    <a:pt x="159842" y="320040"/>
                  </a:lnTo>
                  <a:lnTo>
                    <a:pt x="800277" y="320040"/>
                  </a:lnTo>
                  <a:lnTo>
                    <a:pt x="841590" y="314501"/>
                  </a:lnTo>
                  <a:lnTo>
                    <a:pt x="880198" y="298437"/>
                  </a:lnTo>
                  <a:lnTo>
                    <a:pt x="913087" y="273054"/>
                  </a:lnTo>
                  <a:lnTo>
                    <a:pt x="938517" y="239750"/>
                  </a:lnTo>
                  <a:lnTo>
                    <a:pt x="947713" y="221250"/>
                  </a:lnTo>
                  <a:lnTo>
                    <a:pt x="947818" y="221038"/>
                  </a:lnTo>
                  <a:lnTo>
                    <a:pt x="954508" y="201506"/>
                  </a:lnTo>
                  <a:lnTo>
                    <a:pt x="954585" y="201280"/>
                  </a:lnTo>
                  <a:lnTo>
                    <a:pt x="958657" y="181088"/>
                  </a:lnTo>
                  <a:lnTo>
                    <a:pt x="958719" y="180777"/>
                  </a:lnTo>
                  <a:lnTo>
                    <a:pt x="960095" y="160197"/>
                  </a:lnTo>
                  <a:lnTo>
                    <a:pt x="960095" y="159829"/>
                  </a:lnTo>
                  <a:lnTo>
                    <a:pt x="958719" y="139094"/>
                  </a:lnTo>
                  <a:lnTo>
                    <a:pt x="947818" y="98788"/>
                  </a:lnTo>
                  <a:lnTo>
                    <a:pt x="926870" y="62602"/>
                  </a:lnTo>
                  <a:lnTo>
                    <a:pt x="897362" y="33236"/>
                  </a:lnTo>
                  <a:lnTo>
                    <a:pt x="861129" y="12296"/>
                  </a:lnTo>
                  <a:lnTo>
                    <a:pt x="820864" y="1399"/>
                  </a:lnTo>
                  <a:lnTo>
                    <a:pt x="799922" y="0"/>
                  </a:lnTo>
                  <a:close/>
                </a:path>
              </a:pathLst>
            </a:custGeom>
            <a:solidFill>
              <a:srgbClr val="009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48666" y="5080215"/>
            <a:ext cx="3898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C1A29"/>
                </a:solidFill>
                <a:latin typeface="Calibri"/>
                <a:cs typeface="Calibri"/>
              </a:rPr>
              <a:t>Phase</a:t>
            </a:r>
            <a:r>
              <a:rPr sz="900" b="1" spc="-40" dirty="0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C1A29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92504" y="5052491"/>
            <a:ext cx="168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40576" y="5506821"/>
            <a:ext cx="49028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Parallel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SQL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RAG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execution. Cross-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domain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synthesis.</a:t>
            </a:r>
            <a:r>
              <a:rPr sz="10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Complex</a:t>
            </a:r>
            <a:r>
              <a:rPr sz="10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multi-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hop</a:t>
            </a:r>
            <a:r>
              <a:rPr sz="1000" spc="-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8EA2B0"/>
                </a:solidFill>
                <a:latin typeface="Calibri"/>
                <a:cs typeface="Calibri"/>
              </a:rPr>
              <a:t>analytical</a:t>
            </a:r>
            <a:r>
              <a:rPr sz="1000" spc="-10" dirty="0">
                <a:solidFill>
                  <a:srgbClr val="8EA2B0"/>
                </a:solidFill>
                <a:latin typeface="Calibri"/>
                <a:cs typeface="Calibri"/>
              </a:rPr>
              <a:t> workflows.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3017520" cy="3017520"/>
          </a:xfrm>
          <a:custGeom>
            <a:avLst/>
            <a:gdLst/>
            <a:ahLst/>
            <a:cxnLst/>
            <a:rect l="l" t="t" r="r" b="b"/>
            <a:pathLst>
              <a:path w="3017520" h="3017520">
                <a:moveTo>
                  <a:pt x="2779401" y="0"/>
                </a:moveTo>
                <a:lnTo>
                  <a:pt x="0" y="0"/>
                </a:lnTo>
                <a:lnTo>
                  <a:pt x="0" y="2779226"/>
                </a:lnTo>
                <a:lnTo>
                  <a:pt x="67657" y="2813563"/>
                </a:lnTo>
                <a:lnTo>
                  <a:pt x="114175" y="2835263"/>
                </a:lnTo>
                <a:lnTo>
                  <a:pt x="161176" y="2855773"/>
                </a:lnTo>
                <a:lnTo>
                  <a:pt x="208638" y="2875087"/>
                </a:lnTo>
                <a:lnTo>
                  <a:pt x="256536" y="2893199"/>
                </a:lnTo>
                <a:lnTo>
                  <a:pt x="304847" y="2910103"/>
                </a:lnTo>
                <a:lnTo>
                  <a:pt x="353547" y="2925793"/>
                </a:lnTo>
                <a:lnTo>
                  <a:pt x="402614" y="2940262"/>
                </a:lnTo>
                <a:lnTo>
                  <a:pt x="452022" y="2953506"/>
                </a:lnTo>
                <a:lnTo>
                  <a:pt x="501750" y="2965516"/>
                </a:lnTo>
                <a:lnTo>
                  <a:pt x="551773" y="2976288"/>
                </a:lnTo>
                <a:lnTo>
                  <a:pt x="602068" y="2985816"/>
                </a:lnTo>
                <a:lnTo>
                  <a:pt x="652611" y="2994093"/>
                </a:lnTo>
                <a:lnTo>
                  <a:pt x="703379" y="3001113"/>
                </a:lnTo>
                <a:lnTo>
                  <a:pt x="754348" y="3006871"/>
                </a:lnTo>
                <a:lnTo>
                  <a:pt x="805494" y="3011359"/>
                </a:lnTo>
                <a:lnTo>
                  <a:pt x="856795" y="3014573"/>
                </a:lnTo>
                <a:lnTo>
                  <a:pt x="908226" y="3016506"/>
                </a:lnTo>
                <a:lnTo>
                  <a:pt x="959764" y="3017151"/>
                </a:lnTo>
                <a:lnTo>
                  <a:pt x="1011300" y="3016506"/>
                </a:lnTo>
                <a:lnTo>
                  <a:pt x="1062730" y="3014573"/>
                </a:lnTo>
                <a:lnTo>
                  <a:pt x="1114031" y="3011359"/>
                </a:lnTo>
                <a:lnTo>
                  <a:pt x="1165178" y="3006871"/>
                </a:lnTo>
                <a:lnTo>
                  <a:pt x="1216149" y="3001113"/>
                </a:lnTo>
                <a:lnTo>
                  <a:pt x="1266920" y="2994093"/>
                </a:lnTo>
                <a:lnTo>
                  <a:pt x="1317467" y="2985816"/>
                </a:lnTo>
                <a:lnTo>
                  <a:pt x="1367769" y="2976288"/>
                </a:lnTo>
                <a:lnTo>
                  <a:pt x="1417800" y="2965516"/>
                </a:lnTo>
                <a:lnTo>
                  <a:pt x="1467539" y="2953506"/>
                </a:lnTo>
                <a:lnTo>
                  <a:pt x="1516961" y="2940262"/>
                </a:lnTo>
                <a:lnTo>
                  <a:pt x="1566043" y="2925793"/>
                </a:lnTo>
                <a:lnTo>
                  <a:pt x="1614762" y="2910103"/>
                </a:lnTo>
                <a:lnTo>
                  <a:pt x="1663095" y="2893199"/>
                </a:lnTo>
                <a:lnTo>
                  <a:pt x="1711017" y="2875087"/>
                </a:lnTo>
                <a:lnTo>
                  <a:pt x="1758507" y="2855773"/>
                </a:lnTo>
                <a:lnTo>
                  <a:pt x="1805540" y="2835263"/>
                </a:lnTo>
                <a:lnTo>
                  <a:pt x="1852094" y="2813563"/>
                </a:lnTo>
                <a:lnTo>
                  <a:pt x="1898144" y="2790679"/>
                </a:lnTo>
                <a:lnTo>
                  <a:pt x="1943668" y="2766617"/>
                </a:lnTo>
                <a:lnTo>
                  <a:pt x="1988642" y="2741383"/>
                </a:lnTo>
                <a:lnTo>
                  <a:pt x="2032922" y="2715080"/>
                </a:lnTo>
                <a:lnTo>
                  <a:pt x="2076469" y="2687712"/>
                </a:lnTo>
                <a:lnTo>
                  <a:pt x="2119266" y="2659297"/>
                </a:lnTo>
                <a:lnTo>
                  <a:pt x="2161296" y="2629851"/>
                </a:lnTo>
                <a:lnTo>
                  <a:pt x="2202540" y="2599393"/>
                </a:lnTo>
                <a:lnTo>
                  <a:pt x="2242982" y="2567940"/>
                </a:lnTo>
                <a:lnTo>
                  <a:pt x="2282603" y="2535509"/>
                </a:lnTo>
                <a:lnTo>
                  <a:pt x="2321387" y="2502118"/>
                </a:lnTo>
                <a:lnTo>
                  <a:pt x="2359316" y="2467785"/>
                </a:lnTo>
                <a:lnTo>
                  <a:pt x="2396373" y="2432526"/>
                </a:lnTo>
                <a:lnTo>
                  <a:pt x="2432539" y="2396360"/>
                </a:lnTo>
                <a:lnTo>
                  <a:pt x="2467797" y="2359304"/>
                </a:lnTo>
                <a:lnTo>
                  <a:pt x="2502131" y="2321375"/>
                </a:lnTo>
                <a:lnTo>
                  <a:pt x="2535522" y="2282591"/>
                </a:lnTo>
                <a:lnTo>
                  <a:pt x="2567952" y="2242969"/>
                </a:lnTo>
                <a:lnTo>
                  <a:pt x="2599406" y="2202527"/>
                </a:lnTo>
                <a:lnTo>
                  <a:pt x="2629864" y="2161283"/>
                </a:lnTo>
                <a:lnTo>
                  <a:pt x="2659309" y="2119253"/>
                </a:lnTo>
                <a:lnTo>
                  <a:pt x="2687725" y="2076456"/>
                </a:lnTo>
                <a:lnTo>
                  <a:pt x="2715093" y="2032909"/>
                </a:lnTo>
                <a:lnTo>
                  <a:pt x="2741396" y="1988629"/>
                </a:lnTo>
                <a:lnTo>
                  <a:pt x="2766630" y="1943655"/>
                </a:lnTo>
                <a:lnTo>
                  <a:pt x="2790691" y="1898131"/>
                </a:lnTo>
                <a:lnTo>
                  <a:pt x="2813575" y="1852081"/>
                </a:lnTo>
                <a:lnTo>
                  <a:pt x="2835275" y="1805528"/>
                </a:lnTo>
                <a:lnTo>
                  <a:pt x="2855786" y="1758494"/>
                </a:lnTo>
                <a:lnTo>
                  <a:pt x="2875100" y="1711005"/>
                </a:lnTo>
                <a:lnTo>
                  <a:pt x="2893212" y="1663082"/>
                </a:lnTo>
                <a:lnTo>
                  <a:pt x="2910116" y="1614749"/>
                </a:lnTo>
                <a:lnTo>
                  <a:pt x="2925806" y="1566030"/>
                </a:lnTo>
                <a:lnTo>
                  <a:pt x="2940275" y="1516948"/>
                </a:lnTo>
                <a:lnTo>
                  <a:pt x="2953518" y="1467526"/>
                </a:lnTo>
                <a:lnTo>
                  <a:pt x="2965529" y="1417788"/>
                </a:lnTo>
                <a:lnTo>
                  <a:pt x="2976301" y="1367756"/>
                </a:lnTo>
                <a:lnTo>
                  <a:pt x="2985829" y="1317455"/>
                </a:lnTo>
                <a:lnTo>
                  <a:pt x="2994106" y="1266907"/>
                </a:lnTo>
                <a:lnTo>
                  <a:pt x="3001126" y="1216136"/>
                </a:lnTo>
                <a:lnTo>
                  <a:pt x="3006883" y="1165165"/>
                </a:lnTo>
                <a:lnTo>
                  <a:pt x="3011372" y="1114018"/>
                </a:lnTo>
                <a:lnTo>
                  <a:pt x="3014586" y="1062718"/>
                </a:lnTo>
                <a:lnTo>
                  <a:pt x="3016518" y="1011288"/>
                </a:lnTo>
                <a:lnTo>
                  <a:pt x="3017164" y="959751"/>
                </a:lnTo>
                <a:lnTo>
                  <a:pt x="3016518" y="908213"/>
                </a:lnTo>
                <a:lnTo>
                  <a:pt x="3014586" y="856782"/>
                </a:lnTo>
                <a:lnTo>
                  <a:pt x="3011372" y="805480"/>
                </a:lnTo>
                <a:lnTo>
                  <a:pt x="3006883" y="754332"/>
                </a:lnTo>
                <a:lnTo>
                  <a:pt x="3001126" y="703361"/>
                </a:lnTo>
                <a:lnTo>
                  <a:pt x="2994106" y="652590"/>
                </a:lnTo>
                <a:lnTo>
                  <a:pt x="2985829" y="602042"/>
                </a:lnTo>
                <a:lnTo>
                  <a:pt x="2976301" y="551740"/>
                </a:lnTo>
                <a:lnTo>
                  <a:pt x="2965529" y="501708"/>
                </a:lnTo>
                <a:lnTo>
                  <a:pt x="2953518" y="451970"/>
                </a:lnTo>
                <a:lnTo>
                  <a:pt x="2940275" y="402548"/>
                </a:lnTo>
                <a:lnTo>
                  <a:pt x="2925806" y="353466"/>
                </a:lnTo>
                <a:lnTo>
                  <a:pt x="2910116" y="304747"/>
                </a:lnTo>
                <a:lnTo>
                  <a:pt x="2893212" y="256414"/>
                </a:lnTo>
                <a:lnTo>
                  <a:pt x="2875100" y="208491"/>
                </a:lnTo>
                <a:lnTo>
                  <a:pt x="2855786" y="161001"/>
                </a:lnTo>
                <a:lnTo>
                  <a:pt x="2835275" y="113967"/>
                </a:lnTo>
                <a:lnTo>
                  <a:pt x="2813575" y="67413"/>
                </a:lnTo>
                <a:lnTo>
                  <a:pt x="2790691" y="21361"/>
                </a:lnTo>
                <a:lnTo>
                  <a:pt x="2779401" y="0"/>
                </a:lnTo>
                <a:close/>
              </a:path>
            </a:pathLst>
          </a:custGeom>
          <a:solidFill>
            <a:srgbClr val="00B3D7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75164" y="4388751"/>
            <a:ext cx="2317115" cy="2469515"/>
          </a:xfrm>
          <a:custGeom>
            <a:avLst/>
            <a:gdLst/>
            <a:ahLst/>
            <a:cxnLst/>
            <a:rect l="l" t="t" r="r" b="b"/>
            <a:pathLst>
              <a:path w="2317115" h="2469515">
                <a:moveTo>
                  <a:pt x="1737359" y="0"/>
                </a:moveTo>
                <a:lnTo>
                  <a:pt x="1686594" y="754"/>
                </a:lnTo>
                <a:lnTo>
                  <a:pt x="1635959" y="2975"/>
                </a:lnTo>
                <a:lnTo>
                  <a:pt x="1585485" y="6665"/>
                </a:lnTo>
                <a:lnTo>
                  <a:pt x="1535204" y="11818"/>
                </a:lnTo>
                <a:lnTo>
                  <a:pt x="1485146" y="18425"/>
                </a:lnTo>
                <a:lnTo>
                  <a:pt x="1435342" y="26478"/>
                </a:lnTo>
                <a:lnTo>
                  <a:pt x="1385823" y="35969"/>
                </a:lnTo>
                <a:lnTo>
                  <a:pt x="1336619" y="46889"/>
                </a:lnTo>
                <a:lnTo>
                  <a:pt x="1287760" y="59231"/>
                </a:lnTo>
                <a:lnTo>
                  <a:pt x="1239279" y="72986"/>
                </a:lnTo>
                <a:lnTo>
                  <a:pt x="1191205" y="88146"/>
                </a:lnTo>
                <a:lnTo>
                  <a:pt x="1143570" y="104703"/>
                </a:lnTo>
                <a:lnTo>
                  <a:pt x="1096403" y="122650"/>
                </a:lnTo>
                <a:lnTo>
                  <a:pt x="1049736" y="141977"/>
                </a:lnTo>
                <a:lnTo>
                  <a:pt x="1003599" y="162677"/>
                </a:lnTo>
                <a:lnTo>
                  <a:pt x="958024" y="184741"/>
                </a:lnTo>
                <a:lnTo>
                  <a:pt x="913040" y="208161"/>
                </a:lnTo>
                <a:lnTo>
                  <a:pt x="868679" y="232930"/>
                </a:lnTo>
                <a:lnTo>
                  <a:pt x="825059" y="258925"/>
                </a:lnTo>
                <a:lnTo>
                  <a:pt x="782294" y="286138"/>
                </a:lnTo>
                <a:lnTo>
                  <a:pt x="740407" y="314546"/>
                </a:lnTo>
                <a:lnTo>
                  <a:pt x="699423" y="344126"/>
                </a:lnTo>
                <a:lnTo>
                  <a:pt x="659361" y="374855"/>
                </a:lnTo>
                <a:lnTo>
                  <a:pt x="620247" y="406712"/>
                </a:lnTo>
                <a:lnTo>
                  <a:pt x="582101" y="439674"/>
                </a:lnTo>
                <a:lnTo>
                  <a:pt x="544947" y="473717"/>
                </a:lnTo>
                <a:lnTo>
                  <a:pt x="508808" y="508820"/>
                </a:lnTo>
                <a:lnTo>
                  <a:pt x="473705" y="544960"/>
                </a:lnTo>
                <a:lnTo>
                  <a:pt x="439661" y="582114"/>
                </a:lnTo>
                <a:lnTo>
                  <a:pt x="406700" y="620260"/>
                </a:lnTo>
                <a:lnTo>
                  <a:pt x="374843" y="659374"/>
                </a:lnTo>
                <a:lnTo>
                  <a:pt x="344113" y="699435"/>
                </a:lnTo>
                <a:lnTo>
                  <a:pt x="314533" y="740420"/>
                </a:lnTo>
                <a:lnTo>
                  <a:pt x="286125" y="782306"/>
                </a:lnTo>
                <a:lnTo>
                  <a:pt x="258913" y="825071"/>
                </a:lnTo>
                <a:lnTo>
                  <a:pt x="232918" y="868692"/>
                </a:lnTo>
                <a:lnTo>
                  <a:pt x="208149" y="913053"/>
                </a:lnTo>
                <a:lnTo>
                  <a:pt x="184728" y="958037"/>
                </a:lnTo>
                <a:lnTo>
                  <a:pt x="162664" y="1003612"/>
                </a:lnTo>
                <a:lnTo>
                  <a:pt x="141964" y="1049749"/>
                </a:lnTo>
                <a:lnTo>
                  <a:pt x="122637" y="1096416"/>
                </a:lnTo>
                <a:lnTo>
                  <a:pt x="104691" y="1143582"/>
                </a:lnTo>
                <a:lnTo>
                  <a:pt x="88133" y="1191218"/>
                </a:lnTo>
                <a:lnTo>
                  <a:pt x="72973" y="1239292"/>
                </a:lnTo>
                <a:lnTo>
                  <a:pt x="59218" y="1287773"/>
                </a:lnTo>
                <a:lnTo>
                  <a:pt x="46876" y="1336631"/>
                </a:lnTo>
                <a:lnTo>
                  <a:pt x="35956" y="1385835"/>
                </a:lnTo>
                <a:lnTo>
                  <a:pt x="26465" y="1435355"/>
                </a:lnTo>
                <a:lnTo>
                  <a:pt x="18412" y="1485159"/>
                </a:lnTo>
                <a:lnTo>
                  <a:pt x="11806" y="1535217"/>
                </a:lnTo>
                <a:lnTo>
                  <a:pt x="6653" y="1585498"/>
                </a:lnTo>
                <a:lnTo>
                  <a:pt x="2962" y="1635971"/>
                </a:lnTo>
                <a:lnTo>
                  <a:pt x="741" y="1686606"/>
                </a:lnTo>
                <a:lnTo>
                  <a:pt x="0" y="1737372"/>
                </a:lnTo>
                <a:lnTo>
                  <a:pt x="741" y="1788136"/>
                </a:lnTo>
                <a:lnTo>
                  <a:pt x="2962" y="1838769"/>
                </a:lnTo>
                <a:lnTo>
                  <a:pt x="6653" y="1889241"/>
                </a:lnTo>
                <a:lnTo>
                  <a:pt x="11806" y="1939521"/>
                </a:lnTo>
                <a:lnTo>
                  <a:pt x="18412" y="1989578"/>
                </a:lnTo>
                <a:lnTo>
                  <a:pt x="26465" y="2039381"/>
                </a:lnTo>
                <a:lnTo>
                  <a:pt x="35956" y="2088900"/>
                </a:lnTo>
                <a:lnTo>
                  <a:pt x="46876" y="2138104"/>
                </a:lnTo>
                <a:lnTo>
                  <a:pt x="59218" y="2186962"/>
                </a:lnTo>
                <a:lnTo>
                  <a:pt x="72973" y="2235443"/>
                </a:lnTo>
                <a:lnTo>
                  <a:pt x="88133" y="2283517"/>
                </a:lnTo>
                <a:lnTo>
                  <a:pt x="104691" y="2331154"/>
                </a:lnTo>
                <a:lnTo>
                  <a:pt x="122637" y="2378321"/>
                </a:lnTo>
                <a:lnTo>
                  <a:pt x="141964" y="2424989"/>
                </a:lnTo>
                <a:lnTo>
                  <a:pt x="161661" y="2468892"/>
                </a:lnTo>
                <a:lnTo>
                  <a:pt x="2316594" y="2468892"/>
                </a:lnTo>
                <a:lnTo>
                  <a:pt x="2316594" y="99647"/>
                </a:lnTo>
                <a:lnTo>
                  <a:pt x="2283505" y="88146"/>
                </a:lnTo>
                <a:lnTo>
                  <a:pt x="2235431" y="72986"/>
                </a:lnTo>
                <a:lnTo>
                  <a:pt x="2186949" y="59231"/>
                </a:lnTo>
                <a:lnTo>
                  <a:pt x="2138091" y="46889"/>
                </a:lnTo>
                <a:lnTo>
                  <a:pt x="2088887" y="35969"/>
                </a:lnTo>
                <a:lnTo>
                  <a:pt x="2039368" y="26478"/>
                </a:lnTo>
                <a:lnTo>
                  <a:pt x="1989565" y="18425"/>
                </a:lnTo>
                <a:lnTo>
                  <a:pt x="1939508" y="11818"/>
                </a:lnTo>
                <a:lnTo>
                  <a:pt x="1889229" y="6665"/>
                </a:lnTo>
                <a:lnTo>
                  <a:pt x="1838757" y="2975"/>
                </a:lnTo>
                <a:lnTo>
                  <a:pt x="1788123" y="754"/>
                </a:lnTo>
                <a:lnTo>
                  <a:pt x="1737359" y="0"/>
                </a:lnTo>
                <a:close/>
              </a:path>
            </a:pathLst>
          </a:custGeom>
          <a:solidFill>
            <a:srgbClr val="0095B6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4097" y="909256"/>
            <a:ext cx="209740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20" dirty="0">
                <a:solidFill>
                  <a:srgbClr val="FFFFFF"/>
                </a:solidFill>
              </a:rPr>
              <a:t>QData</a:t>
            </a:r>
            <a:endParaRPr sz="6200"/>
          </a:p>
        </p:txBody>
      </p:sp>
      <p:sp>
        <p:nvSpPr>
          <p:cNvPr id="5" name="object 5"/>
          <p:cNvSpPr txBox="1"/>
          <p:nvPr/>
        </p:nvSpPr>
        <p:spPr>
          <a:xfrm>
            <a:off x="3118573" y="2079612"/>
            <a:ext cx="56445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00B3D7"/>
                </a:solidFill>
                <a:latin typeface="Calibri"/>
                <a:cs typeface="Calibri"/>
              </a:rPr>
              <a:t>Conversational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AI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for</a:t>
            </a:r>
            <a:r>
              <a:rPr sz="1700" spc="-5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Secure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&amp;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Governed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Enterprise</a:t>
            </a:r>
            <a:r>
              <a:rPr sz="1700" spc="-45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B3D7"/>
                </a:solidFill>
                <a:latin typeface="Calibri"/>
                <a:cs typeface="Calibri"/>
              </a:rPr>
              <a:t>Data</a:t>
            </a:r>
            <a:r>
              <a:rPr sz="1700" spc="-50" dirty="0">
                <a:solidFill>
                  <a:srgbClr val="00B3D7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B3D7"/>
                </a:solidFill>
                <a:latin typeface="Calibri"/>
                <a:cs typeface="Calibri"/>
              </a:rPr>
              <a:t>Access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4444" y="2633040"/>
            <a:ext cx="3931920" cy="36830"/>
          </a:xfrm>
          <a:custGeom>
            <a:avLst/>
            <a:gdLst/>
            <a:ahLst/>
            <a:cxnLst/>
            <a:rect l="l" t="t" r="r" b="b"/>
            <a:pathLst>
              <a:path w="3931920" h="36830">
                <a:moveTo>
                  <a:pt x="3931551" y="0"/>
                </a:moveTo>
                <a:lnTo>
                  <a:pt x="0" y="0"/>
                </a:lnTo>
                <a:lnTo>
                  <a:pt x="0" y="36360"/>
                </a:lnTo>
                <a:lnTo>
                  <a:pt x="1965960" y="36360"/>
                </a:lnTo>
                <a:lnTo>
                  <a:pt x="3931551" y="36360"/>
                </a:lnTo>
                <a:lnTo>
                  <a:pt x="3931551" y="0"/>
                </a:lnTo>
                <a:close/>
              </a:path>
            </a:pathLst>
          </a:custGeom>
          <a:solidFill>
            <a:srgbClr val="8EA2B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0024" y="2850743"/>
            <a:ext cx="3660140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8EA2B0"/>
                </a:solidFill>
                <a:latin typeface="Calibri"/>
                <a:cs typeface="Calibri"/>
              </a:rPr>
              <a:t>Submitted</a:t>
            </a:r>
            <a:r>
              <a:rPr sz="13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8EA2B0"/>
                </a:solidFill>
                <a:latin typeface="Calibri"/>
                <a:cs typeface="Calibri"/>
              </a:rPr>
              <a:t>under</a:t>
            </a:r>
            <a:r>
              <a:rPr sz="13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EA2B0"/>
                </a:solidFill>
                <a:latin typeface="Calibri"/>
                <a:cs typeface="Calibri"/>
              </a:rPr>
              <a:t>BlueBolt</a:t>
            </a:r>
            <a:r>
              <a:rPr sz="13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EA2B0"/>
                </a:solidFill>
                <a:latin typeface="Calibri"/>
                <a:cs typeface="Calibri"/>
              </a:rPr>
              <a:t>Innovation</a:t>
            </a:r>
            <a:r>
              <a:rPr sz="13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EA2B0"/>
                </a:solidFill>
                <a:latin typeface="Calibri"/>
                <a:cs typeface="Calibri"/>
              </a:rPr>
              <a:t>Program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85"/>
              </a:spcBef>
            </a:pP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AIA</a:t>
            </a:r>
            <a:r>
              <a:rPr sz="1200" spc="-2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Data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Vertical</a:t>
            </a:r>
            <a:r>
              <a:rPr sz="1200" spc="24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spc="24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EA2B0"/>
                </a:solidFill>
                <a:latin typeface="Calibri"/>
                <a:cs typeface="Calibri"/>
              </a:rPr>
              <a:t>Cognizant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Technology</a:t>
            </a:r>
            <a:r>
              <a:rPr sz="1200" spc="-15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Solutions</a:t>
            </a:r>
            <a:r>
              <a:rPr sz="1200" spc="2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EA2B0"/>
                </a:solidFill>
                <a:latin typeface="Calibri"/>
                <a:cs typeface="Calibri"/>
              </a:rPr>
              <a:t>·</a:t>
            </a:r>
            <a:r>
              <a:rPr sz="1200" spc="25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EA2B0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140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6858" y="1515970"/>
                </a:lnTo>
                <a:lnTo>
                  <a:pt x="6981" y="1516331"/>
                </a:lnTo>
                <a:lnTo>
                  <a:pt x="35675" y="1554000"/>
                </a:lnTo>
                <a:lnTo>
                  <a:pt x="79433" y="1572045"/>
                </a:lnTo>
                <a:lnTo>
                  <a:pt x="91440" y="1572844"/>
                </a:lnTo>
                <a:lnTo>
                  <a:pt x="2011680" y="1572475"/>
                </a:lnTo>
                <a:lnTo>
                  <a:pt x="2057400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20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0056" y="3969258"/>
            <a:ext cx="704215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00B3D7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Agents</a:t>
            </a:r>
            <a:r>
              <a:rPr sz="1100" spc="50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(SQL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EA2B0"/>
                </a:solidFill>
                <a:latin typeface="Calibri"/>
                <a:cs typeface="Calibri"/>
              </a:rPr>
              <a:t>+</a:t>
            </a: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8EA2B0"/>
                </a:solidFill>
                <a:latin typeface="Calibri"/>
                <a:cs typeface="Calibri"/>
              </a:rPr>
              <a:t>RAG)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8312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774" y="1493042"/>
                </a:lnTo>
                <a:lnTo>
                  <a:pt x="798" y="1493403"/>
                </a:lnTo>
                <a:lnTo>
                  <a:pt x="3075" y="1504710"/>
                </a:lnTo>
                <a:lnTo>
                  <a:pt x="3148" y="1505069"/>
                </a:lnTo>
                <a:lnTo>
                  <a:pt x="6858" y="1515970"/>
                </a:lnTo>
                <a:lnTo>
                  <a:pt x="35675" y="1554000"/>
                </a:lnTo>
                <a:lnTo>
                  <a:pt x="79433" y="1572045"/>
                </a:lnTo>
                <a:lnTo>
                  <a:pt x="91439" y="1572844"/>
                </a:lnTo>
                <a:lnTo>
                  <a:pt x="2011680" y="1572475"/>
                </a:lnTo>
                <a:lnTo>
                  <a:pt x="2057399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19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93016" y="3969258"/>
            <a:ext cx="483234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solidFill>
                  <a:srgbClr val="00B3D7"/>
                </a:solidFill>
                <a:latin typeface="Calibri"/>
                <a:cs typeface="Calibri"/>
              </a:rPr>
              <a:t>6+</a:t>
            </a:r>
            <a:endParaRPr sz="3000">
              <a:latin typeface="Calibri"/>
              <a:cs typeface="Calibri"/>
            </a:endParaRPr>
          </a:p>
          <a:p>
            <a:pPr marL="63500" marR="5080" indent="-51435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Security Layers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4844" y="3794759"/>
            <a:ext cx="2103120" cy="1572895"/>
          </a:xfrm>
          <a:custGeom>
            <a:avLst/>
            <a:gdLst/>
            <a:ahLst/>
            <a:cxnLst/>
            <a:rect l="l" t="t" r="r" b="b"/>
            <a:pathLst>
              <a:path w="2103120" h="1572895">
                <a:moveTo>
                  <a:pt x="201131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1481404"/>
                </a:lnTo>
                <a:lnTo>
                  <a:pt x="12230" y="1527124"/>
                </a:lnTo>
                <a:lnTo>
                  <a:pt x="45720" y="1560601"/>
                </a:lnTo>
                <a:lnTo>
                  <a:pt x="91440" y="1572844"/>
                </a:lnTo>
                <a:lnTo>
                  <a:pt x="2011679" y="1572475"/>
                </a:lnTo>
                <a:lnTo>
                  <a:pt x="2057400" y="1560245"/>
                </a:lnTo>
                <a:lnTo>
                  <a:pt x="2090877" y="1526755"/>
                </a:lnTo>
                <a:lnTo>
                  <a:pt x="2103095" y="1481404"/>
                </a:lnTo>
                <a:lnTo>
                  <a:pt x="2103120" y="1481035"/>
                </a:lnTo>
                <a:lnTo>
                  <a:pt x="2102751" y="91439"/>
                </a:lnTo>
                <a:lnTo>
                  <a:pt x="2090521" y="45719"/>
                </a:lnTo>
                <a:lnTo>
                  <a:pt x="2057031" y="12242"/>
                </a:lnTo>
                <a:lnTo>
                  <a:pt x="2023318" y="798"/>
                </a:lnTo>
                <a:lnTo>
                  <a:pt x="2011311" y="0"/>
                </a:lnTo>
                <a:close/>
              </a:path>
            </a:pathLst>
          </a:custGeom>
          <a:solidFill>
            <a:srgbClr val="152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25295" y="3969258"/>
            <a:ext cx="88138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00B3D7"/>
                </a:solidFill>
                <a:latin typeface="Calibri"/>
                <a:cs typeface="Calibri"/>
              </a:rPr>
              <a:t>100%</a:t>
            </a:r>
            <a:endParaRPr sz="3000">
              <a:latin typeface="Calibri"/>
              <a:cs typeface="Calibri"/>
            </a:endParaRPr>
          </a:p>
          <a:p>
            <a:pPr marL="128270" marR="121920" algn="ctr">
              <a:lnSpc>
                <a:spcPct val="100000"/>
              </a:lnSpc>
              <a:spcBef>
                <a:spcPts val="1955"/>
              </a:spcBef>
            </a:pPr>
            <a:r>
              <a:rPr sz="1100" spc="-10" dirty="0">
                <a:solidFill>
                  <a:srgbClr val="8EA2B0"/>
                </a:solidFill>
                <a:latin typeface="Calibri"/>
                <a:cs typeface="Calibri"/>
              </a:rPr>
              <a:t>Production Ready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1236</Words>
  <Application>Microsoft Office PowerPoint</Application>
  <PresentationFormat>Widescreen</PresentationFormat>
  <Paragraphs>268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MingLiU_HKSCS-ExtB</vt:lpstr>
      <vt:lpstr>Calibri</vt:lpstr>
      <vt:lpstr>Segoe UI Emoji</vt:lpstr>
      <vt:lpstr>Segoe UI Symbol</vt:lpstr>
      <vt:lpstr>Office Theme</vt:lpstr>
      <vt:lpstr>QData Conversational AI for Secure &amp; Governed Enterprise Data Access</vt:lpstr>
      <vt:lpstr>The Problem</vt:lpstr>
      <vt:lpstr>The Solution</vt:lpstr>
      <vt:lpstr>Multi-Agent Architecture</vt:lpstr>
      <vt:lpstr>How It Works</vt:lpstr>
      <vt:lpstr>Enterprise Security &amp; Governance</vt:lpstr>
      <vt:lpstr>Technical Architecture</vt:lpstr>
      <vt:lpstr>Agent Intelligence</vt:lpstr>
      <vt:lpstr>Observability &amp; Audit Trail</vt:lpstr>
      <vt:lpstr>Business Impact</vt:lpstr>
      <vt:lpstr>Current Status &amp; Roadmap</vt:lpstr>
      <vt:lpstr>QData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Jamaludeen F</cp:lastModifiedBy>
  <cp:revision>1</cp:revision>
  <dcterms:created xsi:type="dcterms:W3CDTF">2026-08-16T20:46:49Z</dcterms:created>
  <dcterms:modified xsi:type="dcterms:W3CDTF">2026-08-17T03:57:12Z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2026-07-22T00:00:00Z</vt:filetime>
  </property>
</Properties>
</file>